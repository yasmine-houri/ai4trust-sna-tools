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5" r:id="rId2"/>
    <p:sldId id="287" r:id="rId3"/>
    <p:sldId id="28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6C62A0-0988-4205-A863-1D7243C6A8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C3B1F1-612D-4474-8B13-390077959E8B}">
      <dgm:prSet phldrT="[Texte]" custT="1"/>
      <dgm:spPr/>
      <dgm:t>
        <a:bodyPr/>
        <a:lstStyle/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Check language relevance</a:t>
          </a:r>
        </a:p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Create a dummy indicating whether each message language belongs to the project scope</a:t>
          </a:r>
          <a:endParaRPr lang="fr-FR" sz="1800" dirty="0"/>
        </a:p>
      </dgm:t>
    </dgm:pt>
    <dgm:pt modelId="{68A1C0DD-FEBB-4CF3-A04C-C243AC8FB39B}" type="parTrans" cxnId="{786A1D06-A443-4CB2-BF53-03D2FE89181F}">
      <dgm:prSet/>
      <dgm:spPr/>
      <dgm:t>
        <a:bodyPr/>
        <a:lstStyle/>
        <a:p>
          <a:endParaRPr lang="fr-FR"/>
        </a:p>
      </dgm:t>
    </dgm:pt>
    <dgm:pt modelId="{D9A1671E-038B-4831-969C-87FB4B4CA18B}" type="sibTrans" cxnId="{786A1D06-A443-4CB2-BF53-03D2FE89181F}">
      <dgm:prSet/>
      <dgm:spPr/>
      <dgm:t>
        <a:bodyPr/>
        <a:lstStyle/>
        <a:p>
          <a:endParaRPr lang="fr-FR"/>
        </a:p>
      </dgm:t>
    </dgm:pt>
    <dgm:pt modelId="{959F500D-2707-4514-A499-BD803D2B3BBC}">
      <dgm:prSet phldrT="[Texte]" custT="1"/>
      <dgm:spPr/>
      <dgm:t>
        <a:bodyPr/>
        <a:lstStyle/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Compute channel virality</a:t>
          </a:r>
        </a:p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Channel relevance is some metric for the combination of:  </a:t>
          </a:r>
          <a:b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activity (a = number of posts);</a:t>
          </a:r>
          <a:b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participation (p = number of participants)</a:t>
          </a:r>
          <a:b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centrality (d = channel degree (total))</a:t>
          </a:r>
          <a:endParaRPr lang="fr-FR" sz="1800" dirty="0"/>
        </a:p>
      </dgm:t>
    </dgm:pt>
    <dgm:pt modelId="{B0A3662C-49DD-4E7D-9D3C-71E24FD25A96}" type="parTrans" cxnId="{8992D4FE-2FEE-4C2B-AB7D-1177A8FDB53B}">
      <dgm:prSet/>
      <dgm:spPr/>
      <dgm:t>
        <a:bodyPr/>
        <a:lstStyle/>
        <a:p>
          <a:endParaRPr lang="fr-FR"/>
        </a:p>
      </dgm:t>
    </dgm:pt>
    <dgm:pt modelId="{9BA735ED-EA87-4590-B84F-EF55CF8844AA}" type="sibTrans" cxnId="{8992D4FE-2FEE-4C2B-AB7D-1177A8FDB53B}">
      <dgm:prSet/>
      <dgm:spPr/>
      <dgm:t>
        <a:bodyPr/>
        <a:lstStyle/>
        <a:p>
          <a:endParaRPr lang="fr-FR"/>
        </a:p>
      </dgm:t>
    </dgm:pt>
    <dgm:pt modelId="{FC10DC34-BE32-4C0A-88FA-865C7102AE43}">
      <dgm:prSet phldrT="[Texte]" custT="1"/>
      <dgm:spPr/>
      <dgm:t>
        <a:bodyPr/>
        <a:lstStyle/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Compute message virality</a:t>
          </a:r>
          <a:endParaRPr kumimoji="0" lang="en-US" sz="1800" b="0" i="0" u="none" strike="noStrike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cs typeface="Arial"/>
            <a:sym typeface="Arial"/>
          </a:endParaRPr>
        </a:p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Message virality is some metric for the combination of number of replies &amp; forwards &amp; reactions</a:t>
          </a:r>
          <a:endParaRPr lang="fr-FR" sz="1800" dirty="0"/>
        </a:p>
      </dgm:t>
    </dgm:pt>
    <dgm:pt modelId="{7BBEA038-CA1E-4A16-AB09-16E64D4688FA}" type="parTrans" cxnId="{FBF89B16-B115-40D1-AF50-BD329347C77A}">
      <dgm:prSet/>
      <dgm:spPr/>
      <dgm:t>
        <a:bodyPr/>
        <a:lstStyle/>
        <a:p>
          <a:endParaRPr lang="fr-FR"/>
        </a:p>
      </dgm:t>
    </dgm:pt>
    <dgm:pt modelId="{F6A0A914-83A3-4229-970C-C9058E5BD1C9}" type="sibTrans" cxnId="{FBF89B16-B115-40D1-AF50-BD329347C77A}">
      <dgm:prSet/>
      <dgm:spPr/>
      <dgm:t>
        <a:bodyPr/>
        <a:lstStyle/>
        <a:p>
          <a:endParaRPr lang="fr-FR"/>
        </a:p>
      </dgm:t>
    </dgm:pt>
    <dgm:pt modelId="{0FDAE11E-533C-435D-A37D-1976ED691F92}">
      <dgm:prSet custT="1"/>
      <dgm:spPr/>
      <dgm:t>
        <a:bodyPr/>
        <a:lstStyle/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Keep channels and messages with the highest scores</a:t>
          </a:r>
        </a:p>
        <a:p>
          <a:pPr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Set a threshold of each score statistically and prioritize the analysis of channels and messages with a score above the threshold</a:t>
          </a:r>
        </a:p>
      </dgm:t>
    </dgm:pt>
    <dgm:pt modelId="{C9BD2C41-C112-452E-A016-4178AC54868C}" type="parTrans" cxnId="{63112A58-1623-491F-B333-942DE76B3EB1}">
      <dgm:prSet/>
      <dgm:spPr/>
      <dgm:t>
        <a:bodyPr/>
        <a:lstStyle/>
        <a:p>
          <a:endParaRPr lang="fr-FR"/>
        </a:p>
      </dgm:t>
    </dgm:pt>
    <dgm:pt modelId="{D27DE340-6E0C-492E-9628-655E02EC097C}" type="sibTrans" cxnId="{63112A58-1623-491F-B333-942DE76B3EB1}">
      <dgm:prSet/>
      <dgm:spPr/>
      <dgm:t>
        <a:bodyPr/>
        <a:lstStyle/>
        <a:p>
          <a:endParaRPr lang="fr-FR"/>
        </a:p>
      </dgm:t>
    </dgm:pt>
    <dgm:pt modelId="{C7E2D220-D820-4C91-91F9-E13A43E15996}" type="pres">
      <dgm:prSet presAssocID="{876C62A0-0988-4205-A863-1D7243C6A8B6}" presName="Name0" presStyleCnt="0">
        <dgm:presLayoutVars>
          <dgm:dir/>
          <dgm:resizeHandles val="exact"/>
        </dgm:presLayoutVars>
      </dgm:prSet>
      <dgm:spPr/>
    </dgm:pt>
    <dgm:pt modelId="{FDC2D32E-BCA8-47E6-9596-27B4AB03A588}" type="pres">
      <dgm:prSet presAssocID="{BBC3B1F1-612D-4474-8B13-390077959E8B}" presName="node" presStyleLbl="node1" presStyleIdx="0" presStyleCnt="4">
        <dgm:presLayoutVars>
          <dgm:bulletEnabled val="1"/>
        </dgm:presLayoutVars>
      </dgm:prSet>
      <dgm:spPr/>
    </dgm:pt>
    <dgm:pt modelId="{E969885E-57E8-4CFA-8D65-4CA8D83724EE}" type="pres">
      <dgm:prSet presAssocID="{D9A1671E-038B-4831-969C-87FB4B4CA18B}" presName="sibTrans" presStyleLbl="sibTrans2D1" presStyleIdx="0" presStyleCnt="3"/>
      <dgm:spPr/>
    </dgm:pt>
    <dgm:pt modelId="{583C0843-26F6-443C-8BE4-903E716CD29A}" type="pres">
      <dgm:prSet presAssocID="{D9A1671E-038B-4831-969C-87FB4B4CA18B}" presName="connectorText" presStyleLbl="sibTrans2D1" presStyleIdx="0" presStyleCnt="3"/>
      <dgm:spPr/>
    </dgm:pt>
    <dgm:pt modelId="{EB8D48BB-BF72-4BF8-871D-4751E104AA50}" type="pres">
      <dgm:prSet presAssocID="{959F500D-2707-4514-A499-BD803D2B3BBC}" presName="node" presStyleLbl="node1" presStyleIdx="1" presStyleCnt="4" custLinFactNeighborY="0">
        <dgm:presLayoutVars>
          <dgm:bulletEnabled val="1"/>
        </dgm:presLayoutVars>
      </dgm:prSet>
      <dgm:spPr/>
    </dgm:pt>
    <dgm:pt modelId="{784E8B2F-5D17-4A18-87A7-F2F4BD8A41EB}" type="pres">
      <dgm:prSet presAssocID="{9BA735ED-EA87-4590-B84F-EF55CF8844AA}" presName="sibTrans" presStyleLbl="sibTrans2D1" presStyleIdx="1" presStyleCnt="3"/>
      <dgm:spPr/>
    </dgm:pt>
    <dgm:pt modelId="{DDFB9BF3-C092-4F36-BC0F-621D8BEEFDB0}" type="pres">
      <dgm:prSet presAssocID="{9BA735ED-EA87-4590-B84F-EF55CF8844AA}" presName="connectorText" presStyleLbl="sibTrans2D1" presStyleIdx="1" presStyleCnt="3"/>
      <dgm:spPr/>
    </dgm:pt>
    <dgm:pt modelId="{1F320D22-E5B3-4CBC-B0A2-6FD02BAB8A9B}" type="pres">
      <dgm:prSet presAssocID="{FC10DC34-BE32-4C0A-88FA-865C7102AE43}" presName="node" presStyleLbl="node1" presStyleIdx="2" presStyleCnt="4">
        <dgm:presLayoutVars>
          <dgm:bulletEnabled val="1"/>
        </dgm:presLayoutVars>
      </dgm:prSet>
      <dgm:spPr/>
    </dgm:pt>
    <dgm:pt modelId="{45EB82B1-2CDE-4E91-B137-47E3A1266D3F}" type="pres">
      <dgm:prSet presAssocID="{F6A0A914-83A3-4229-970C-C9058E5BD1C9}" presName="sibTrans" presStyleLbl="sibTrans2D1" presStyleIdx="2" presStyleCnt="3"/>
      <dgm:spPr/>
    </dgm:pt>
    <dgm:pt modelId="{52AAC65D-F680-41AD-9253-3454D9B481F8}" type="pres">
      <dgm:prSet presAssocID="{F6A0A914-83A3-4229-970C-C9058E5BD1C9}" presName="connectorText" presStyleLbl="sibTrans2D1" presStyleIdx="2" presStyleCnt="3"/>
      <dgm:spPr/>
    </dgm:pt>
    <dgm:pt modelId="{E43A4B37-204E-48C2-B25B-E6BB91CF9732}" type="pres">
      <dgm:prSet presAssocID="{0FDAE11E-533C-435D-A37D-1976ED691F92}" presName="node" presStyleLbl="node1" presStyleIdx="3" presStyleCnt="4" custLinFactNeighborY="0">
        <dgm:presLayoutVars>
          <dgm:bulletEnabled val="1"/>
        </dgm:presLayoutVars>
      </dgm:prSet>
      <dgm:spPr/>
    </dgm:pt>
  </dgm:ptLst>
  <dgm:cxnLst>
    <dgm:cxn modelId="{786A1D06-A443-4CB2-BF53-03D2FE89181F}" srcId="{876C62A0-0988-4205-A863-1D7243C6A8B6}" destId="{BBC3B1F1-612D-4474-8B13-390077959E8B}" srcOrd="0" destOrd="0" parTransId="{68A1C0DD-FEBB-4CF3-A04C-C243AC8FB39B}" sibTransId="{D9A1671E-038B-4831-969C-87FB4B4CA18B}"/>
    <dgm:cxn modelId="{6E621809-C771-4F39-B39E-191217ED3FF7}" type="presOf" srcId="{FC10DC34-BE32-4C0A-88FA-865C7102AE43}" destId="{1F320D22-E5B3-4CBC-B0A2-6FD02BAB8A9B}" srcOrd="0" destOrd="0" presId="urn:microsoft.com/office/officeart/2005/8/layout/process1"/>
    <dgm:cxn modelId="{FBF89B16-B115-40D1-AF50-BD329347C77A}" srcId="{876C62A0-0988-4205-A863-1D7243C6A8B6}" destId="{FC10DC34-BE32-4C0A-88FA-865C7102AE43}" srcOrd="2" destOrd="0" parTransId="{7BBEA038-CA1E-4A16-AB09-16E64D4688FA}" sibTransId="{F6A0A914-83A3-4229-970C-C9058E5BD1C9}"/>
    <dgm:cxn modelId="{8BE96724-091D-4914-9925-0F7F03F8CA2A}" type="presOf" srcId="{9BA735ED-EA87-4590-B84F-EF55CF8844AA}" destId="{DDFB9BF3-C092-4F36-BC0F-621D8BEEFDB0}" srcOrd="1" destOrd="0" presId="urn:microsoft.com/office/officeart/2005/8/layout/process1"/>
    <dgm:cxn modelId="{AC78174A-34C7-4595-A344-49B68CA94B3E}" type="presOf" srcId="{0FDAE11E-533C-435D-A37D-1976ED691F92}" destId="{E43A4B37-204E-48C2-B25B-E6BB91CF9732}" srcOrd="0" destOrd="0" presId="urn:microsoft.com/office/officeart/2005/8/layout/process1"/>
    <dgm:cxn modelId="{65A8184A-3FBD-4136-9609-F87EFBBDDAAC}" type="presOf" srcId="{959F500D-2707-4514-A499-BD803D2B3BBC}" destId="{EB8D48BB-BF72-4BF8-871D-4751E104AA50}" srcOrd="0" destOrd="0" presId="urn:microsoft.com/office/officeart/2005/8/layout/process1"/>
    <dgm:cxn modelId="{63112A58-1623-491F-B333-942DE76B3EB1}" srcId="{876C62A0-0988-4205-A863-1D7243C6A8B6}" destId="{0FDAE11E-533C-435D-A37D-1976ED691F92}" srcOrd="3" destOrd="0" parTransId="{C9BD2C41-C112-452E-A016-4178AC54868C}" sibTransId="{D27DE340-6E0C-492E-9628-655E02EC097C}"/>
    <dgm:cxn modelId="{69F0FE7F-EE90-46F4-B9D1-042E04E7B22B}" type="presOf" srcId="{F6A0A914-83A3-4229-970C-C9058E5BD1C9}" destId="{45EB82B1-2CDE-4E91-B137-47E3A1266D3F}" srcOrd="0" destOrd="0" presId="urn:microsoft.com/office/officeart/2005/8/layout/process1"/>
    <dgm:cxn modelId="{0A07098D-4134-494E-9755-C2FF19B184C9}" type="presOf" srcId="{BBC3B1F1-612D-4474-8B13-390077959E8B}" destId="{FDC2D32E-BCA8-47E6-9596-27B4AB03A588}" srcOrd="0" destOrd="0" presId="urn:microsoft.com/office/officeart/2005/8/layout/process1"/>
    <dgm:cxn modelId="{E6F2C492-AA7C-4F73-A3AA-6AC51860B1B3}" type="presOf" srcId="{9BA735ED-EA87-4590-B84F-EF55CF8844AA}" destId="{784E8B2F-5D17-4A18-87A7-F2F4BD8A41EB}" srcOrd="0" destOrd="0" presId="urn:microsoft.com/office/officeart/2005/8/layout/process1"/>
    <dgm:cxn modelId="{385BFCB4-5AE8-4AFD-BE98-66C554730961}" type="presOf" srcId="{D9A1671E-038B-4831-969C-87FB4B4CA18B}" destId="{E969885E-57E8-4CFA-8D65-4CA8D83724EE}" srcOrd="0" destOrd="0" presId="urn:microsoft.com/office/officeart/2005/8/layout/process1"/>
    <dgm:cxn modelId="{A07BFAC6-71E1-42CD-B0DD-A7E63FA7052E}" type="presOf" srcId="{876C62A0-0988-4205-A863-1D7243C6A8B6}" destId="{C7E2D220-D820-4C91-91F9-E13A43E15996}" srcOrd="0" destOrd="0" presId="urn:microsoft.com/office/officeart/2005/8/layout/process1"/>
    <dgm:cxn modelId="{A015D2E7-AC3A-40BD-8738-4013E58E04DC}" type="presOf" srcId="{D9A1671E-038B-4831-969C-87FB4B4CA18B}" destId="{583C0843-26F6-443C-8BE4-903E716CD29A}" srcOrd="1" destOrd="0" presId="urn:microsoft.com/office/officeart/2005/8/layout/process1"/>
    <dgm:cxn modelId="{98D3B6F9-150B-4A71-AA5F-D83657041308}" type="presOf" srcId="{F6A0A914-83A3-4229-970C-C9058E5BD1C9}" destId="{52AAC65D-F680-41AD-9253-3454D9B481F8}" srcOrd="1" destOrd="0" presId="urn:microsoft.com/office/officeart/2005/8/layout/process1"/>
    <dgm:cxn modelId="{8992D4FE-2FEE-4C2B-AB7D-1177A8FDB53B}" srcId="{876C62A0-0988-4205-A863-1D7243C6A8B6}" destId="{959F500D-2707-4514-A499-BD803D2B3BBC}" srcOrd="1" destOrd="0" parTransId="{B0A3662C-49DD-4E7D-9D3C-71E24FD25A96}" sibTransId="{9BA735ED-EA87-4590-B84F-EF55CF8844AA}"/>
    <dgm:cxn modelId="{C1912E9B-94D1-463B-8F1F-A2251906AD25}" type="presParOf" srcId="{C7E2D220-D820-4C91-91F9-E13A43E15996}" destId="{FDC2D32E-BCA8-47E6-9596-27B4AB03A588}" srcOrd="0" destOrd="0" presId="urn:microsoft.com/office/officeart/2005/8/layout/process1"/>
    <dgm:cxn modelId="{0CC642C3-E7D5-4540-9487-945F9725F425}" type="presParOf" srcId="{C7E2D220-D820-4C91-91F9-E13A43E15996}" destId="{E969885E-57E8-4CFA-8D65-4CA8D83724EE}" srcOrd="1" destOrd="0" presId="urn:microsoft.com/office/officeart/2005/8/layout/process1"/>
    <dgm:cxn modelId="{E81FAC9F-80C7-4988-88B4-BC05BDF193EC}" type="presParOf" srcId="{E969885E-57E8-4CFA-8D65-4CA8D83724EE}" destId="{583C0843-26F6-443C-8BE4-903E716CD29A}" srcOrd="0" destOrd="0" presId="urn:microsoft.com/office/officeart/2005/8/layout/process1"/>
    <dgm:cxn modelId="{6EC01BDC-78E3-4276-98B1-8E4835AB63B1}" type="presParOf" srcId="{C7E2D220-D820-4C91-91F9-E13A43E15996}" destId="{EB8D48BB-BF72-4BF8-871D-4751E104AA50}" srcOrd="2" destOrd="0" presId="urn:microsoft.com/office/officeart/2005/8/layout/process1"/>
    <dgm:cxn modelId="{59137137-3703-4FC1-8251-5D44011A8085}" type="presParOf" srcId="{C7E2D220-D820-4C91-91F9-E13A43E15996}" destId="{784E8B2F-5D17-4A18-87A7-F2F4BD8A41EB}" srcOrd="3" destOrd="0" presId="urn:microsoft.com/office/officeart/2005/8/layout/process1"/>
    <dgm:cxn modelId="{2A8A76E3-2222-4063-8DA8-2BE657B9CA1A}" type="presParOf" srcId="{784E8B2F-5D17-4A18-87A7-F2F4BD8A41EB}" destId="{DDFB9BF3-C092-4F36-BC0F-621D8BEEFDB0}" srcOrd="0" destOrd="0" presId="urn:microsoft.com/office/officeart/2005/8/layout/process1"/>
    <dgm:cxn modelId="{8BC26BEE-F3F1-4FB8-B14A-4E1B3D88F54A}" type="presParOf" srcId="{C7E2D220-D820-4C91-91F9-E13A43E15996}" destId="{1F320D22-E5B3-4CBC-B0A2-6FD02BAB8A9B}" srcOrd="4" destOrd="0" presId="urn:microsoft.com/office/officeart/2005/8/layout/process1"/>
    <dgm:cxn modelId="{FAA6F39E-4FA4-444D-A117-F6FB54D31150}" type="presParOf" srcId="{C7E2D220-D820-4C91-91F9-E13A43E15996}" destId="{45EB82B1-2CDE-4E91-B137-47E3A1266D3F}" srcOrd="5" destOrd="0" presId="urn:microsoft.com/office/officeart/2005/8/layout/process1"/>
    <dgm:cxn modelId="{41A22E61-B503-4276-97CE-9C142CA9ED65}" type="presParOf" srcId="{45EB82B1-2CDE-4E91-B137-47E3A1266D3F}" destId="{52AAC65D-F680-41AD-9253-3454D9B481F8}" srcOrd="0" destOrd="0" presId="urn:microsoft.com/office/officeart/2005/8/layout/process1"/>
    <dgm:cxn modelId="{BC52849D-97F9-4CEA-A045-432AC2C201A3}" type="presParOf" srcId="{C7E2D220-D820-4C91-91F9-E13A43E15996}" destId="{E43A4B37-204E-48C2-B25B-E6BB91CF973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2D32E-BCA8-47E6-9596-27B4AB03A588}">
      <dsp:nvSpPr>
        <dsp:cNvPr id="0" name=""/>
        <dsp:cNvSpPr/>
      </dsp:nvSpPr>
      <dsp:spPr>
        <a:xfrm>
          <a:off x="9594" y="0"/>
          <a:ext cx="1986081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Check language relevance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Create a dummy indicating whether each message language belongs to the project scope</a:t>
          </a:r>
          <a:endParaRPr lang="fr-FR" sz="1800" kern="1200" dirty="0"/>
        </a:p>
      </dsp:txBody>
      <dsp:txXfrm>
        <a:off x="67764" y="58170"/>
        <a:ext cx="1869741" cy="4318010"/>
      </dsp:txXfrm>
    </dsp:sp>
    <dsp:sp modelId="{E969885E-57E8-4CFA-8D65-4CA8D83724EE}">
      <dsp:nvSpPr>
        <dsp:cNvPr id="0" name=""/>
        <dsp:cNvSpPr/>
      </dsp:nvSpPr>
      <dsp:spPr>
        <a:xfrm>
          <a:off x="2194284" y="1970900"/>
          <a:ext cx="421049" cy="492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194284" y="2069410"/>
        <a:ext cx="294734" cy="295528"/>
      </dsp:txXfrm>
    </dsp:sp>
    <dsp:sp modelId="{EB8D48BB-BF72-4BF8-871D-4751E104AA50}">
      <dsp:nvSpPr>
        <dsp:cNvPr id="0" name=""/>
        <dsp:cNvSpPr/>
      </dsp:nvSpPr>
      <dsp:spPr>
        <a:xfrm>
          <a:off x="2790108" y="0"/>
          <a:ext cx="1986081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Compute channel virality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Channel relevance is some metric for the combination of:  </a:t>
          </a:r>
          <a:b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activity (a = number of posts);</a:t>
          </a:r>
          <a:b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participation (p = number of participants)</a:t>
          </a:r>
          <a:b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</a:b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- channel centrality (d = channel degree (total))</a:t>
          </a:r>
          <a:endParaRPr lang="fr-FR" sz="1800" kern="1200" dirty="0"/>
        </a:p>
      </dsp:txBody>
      <dsp:txXfrm>
        <a:off x="2848278" y="58170"/>
        <a:ext cx="1869741" cy="4318010"/>
      </dsp:txXfrm>
    </dsp:sp>
    <dsp:sp modelId="{784E8B2F-5D17-4A18-87A7-F2F4BD8A41EB}">
      <dsp:nvSpPr>
        <dsp:cNvPr id="0" name=""/>
        <dsp:cNvSpPr/>
      </dsp:nvSpPr>
      <dsp:spPr>
        <a:xfrm>
          <a:off x="4974798" y="1970900"/>
          <a:ext cx="421049" cy="492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4974798" y="2069410"/>
        <a:ext cx="294734" cy="295528"/>
      </dsp:txXfrm>
    </dsp:sp>
    <dsp:sp modelId="{1F320D22-E5B3-4CBC-B0A2-6FD02BAB8A9B}">
      <dsp:nvSpPr>
        <dsp:cNvPr id="0" name=""/>
        <dsp:cNvSpPr/>
      </dsp:nvSpPr>
      <dsp:spPr>
        <a:xfrm>
          <a:off x="5570622" y="0"/>
          <a:ext cx="1986081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Compute message virality</a:t>
          </a:r>
          <a:endParaRPr kumimoji="0" lang="en-US" sz="1800" b="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cs typeface="Arial"/>
            <a:sym typeface="Arial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Message virality is some metric for the combination of number of replies &amp; forwards &amp; reactions</a:t>
          </a:r>
          <a:endParaRPr lang="fr-FR" sz="1800" kern="1200" dirty="0"/>
        </a:p>
      </dsp:txBody>
      <dsp:txXfrm>
        <a:off x="5628792" y="58170"/>
        <a:ext cx="1869741" cy="4318010"/>
      </dsp:txXfrm>
    </dsp:sp>
    <dsp:sp modelId="{45EB82B1-2CDE-4E91-B137-47E3A1266D3F}">
      <dsp:nvSpPr>
        <dsp:cNvPr id="0" name=""/>
        <dsp:cNvSpPr/>
      </dsp:nvSpPr>
      <dsp:spPr>
        <a:xfrm>
          <a:off x="7755312" y="1970900"/>
          <a:ext cx="421049" cy="492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7755312" y="2069410"/>
        <a:ext cx="294734" cy="295528"/>
      </dsp:txXfrm>
    </dsp:sp>
    <dsp:sp modelId="{E43A4B37-204E-48C2-B25B-E6BB91CF9732}">
      <dsp:nvSpPr>
        <dsp:cNvPr id="0" name=""/>
        <dsp:cNvSpPr/>
      </dsp:nvSpPr>
      <dsp:spPr>
        <a:xfrm>
          <a:off x="8351136" y="0"/>
          <a:ext cx="1986081" cy="44343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Keep channels and messages with the highest scores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2200"/>
            <a:buFont typeface="Arial"/>
            <a:buNone/>
          </a:pPr>
          <a:r>
            <a: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rPr>
            <a:t>Set a threshold of each score statistically and prioritize the analysis of channels and messages with a score above the threshold</a:t>
          </a:r>
        </a:p>
      </dsp:txBody>
      <dsp:txXfrm>
        <a:off x="8409306" y="58170"/>
        <a:ext cx="1869741" cy="431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927AC-D52F-4CBB-8071-A6B6DDB1D689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8CF79-80DB-400B-BEA5-F932A495E8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9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>
          <a:extLst>
            <a:ext uri="{FF2B5EF4-FFF2-40B4-BE49-F238E27FC236}">
              <a16:creationId xmlns:a16="http://schemas.microsoft.com/office/drawing/2014/main" id="{94BD77BD-53A2-65CA-1FB4-7EB9C380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2913e9c632_0_102:notes">
            <a:extLst>
              <a:ext uri="{FF2B5EF4-FFF2-40B4-BE49-F238E27FC236}">
                <a16:creationId xmlns:a16="http://schemas.microsoft.com/office/drawing/2014/main" id="{F3E0C70F-E8B6-3D54-7885-77694BB5C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g32913e9c632_0_102:notes">
            <a:extLst>
              <a:ext uri="{FF2B5EF4-FFF2-40B4-BE49-F238E27FC236}">
                <a16:creationId xmlns:a16="http://schemas.microsoft.com/office/drawing/2014/main" id="{EDB6A841-6D6D-85D0-22E0-50144ADD7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07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Intestazione sezion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831850" y="4674550"/>
            <a:ext cx="105156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000"/>
              <a:buNone/>
              <a:defRPr sz="2000">
                <a:solidFill>
                  <a:srgbClr val="89898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 sz="1800">
                <a:solidFill>
                  <a:srgbClr val="89898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1600"/>
              <a:buNone/>
              <a:defRPr sz="1600"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tx2">
                    <a:lumMod val="25000"/>
                  </a:schemeClr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26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54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747126" y="1511049"/>
            <a:ext cx="10697748" cy="81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D86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003D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747126" y="2509330"/>
            <a:ext cx="10697748" cy="3667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812" y="6331862"/>
            <a:ext cx="11527536" cy="43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9468" y="43200"/>
            <a:ext cx="1233065" cy="12330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1"/>
          <p:cNvSpPr txBox="1"/>
          <p:nvPr/>
        </p:nvSpPr>
        <p:spPr>
          <a:xfrm>
            <a:off x="9719614" y="408008"/>
            <a:ext cx="2047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3D86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www.ai4trust.eu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838" y="408008"/>
            <a:ext cx="536575" cy="330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/>
          <p:nvPr/>
        </p:nvSpPr>
        <p:spPr>
          <a:xfrm>
            <a:off x="1069388" y="418634"/>
            <a:ext cx="2618628" cy="32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Funded by the European Union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Horizon Europe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(HORIZON-CL4-2021-HUMAN-01-27 AI to fight disinformation)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300">
                <a:solidFill>
                  <a:srgbClr val="0C0C0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6627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7554E-F959-CB7A-A228-235F85634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9111"/>
            <a:ext cx="9144000" cy="2387600"/>
          </a:xfrm>
        </p:spPr>
        <p:txBody>
          <a:bodyPr/>
          <a:lstStyle/>
          <a:p>
            <a:r>
              <a:rPr lang="en-US" dirty="0"/>
              <a:t>Telegram Relevance Evaluator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4B6D45-CA44-7B55-4113-2A16F695C1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29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>
          <a:extLst>
            <a:ext uri="{FF2B5EF4-FFF2-40B4-BE49-F238E27FC236}">
              <a16:creationId xmlns:a16="http://schemas.microsoft.com/office/drawing/2014/main" id="{3FBB3083-E520-3BB4-065A-06F36CF9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2913e9c632_0_102">
            <a:extLst>
              <a:ext uri="{FF2B5EF4-FFF2-40B4-BE49-F238E27FC236}">
                <a16:creationId xmlns:a16="http://schemas.microsoft.com/office/drawing/2014/main" id="{069152B8-36D4-3507-921E-D71461D385A6}"/>
              </a:ext>
            </a:extLst>
          </p:cNvPr>
          <p:cNvSpPr/>
          <p:nvPr/>
        </p:nvSpPr>
        <p:spPr>
          <a:xfrm>
            <a:off x="524500" y="953984"/>
            <a:ext cx="900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/>
              <a:t>Overview</a:t>
            </a:r>
          </a:p>
        </p:txBody>
      </p:sp>
      <p:sp>
        <p:nvSpPr>
          <p:cNvPr id="395" name="Google Shape;395;g32913e9c632_0_102">
            <a:extLst>
              <a:ext uri="{FF2B5EF4-FFF2-40B4-BE49-F238E27FC236}">
                <a16:creationId xmlns:a16="http://schemas.microsoft.com/office/drawing/2014/main" id="{EA41DD6E-43D6-9BA5-456B-A946E6D7CB10}"/>
              </a:ext>
            </a:extLst>
          </p:cNvPr>
          <p:cNvSpPr txBox="1"/>
          <p:nvPr/>
        </p:nvSpPr>
        <p:spPr>
          <a:xfrm>
            <a:off x="950650" y="1520625"/>
            <a:ext cx="1035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913e9c632_0_102">
            <a:extLst>
              <a:ext uri="{FF2B5EF4-FFF2-40B4-BE49-F238E27FC236}">
                <a16:creationId xmlns:a16="http://schemas.microsoft.com/office/drawing/2014/main" id="{96A60B4A-BAD0-5888-AB26-1069ED15F6E0}"/>
              </a:ext>
            </a:extLst>
          </p:cNvPr>
          <p:cNvSpPr/>
          <p:nvPr/>
        </p:nvSpPr>
        <p:spPr>
          <a:xfrm>
            <a:off x="524500" y="1415684"/>
            <a:ext cx="11208900" cy="488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Purpose</a:t>
            </a:r>
          </a:p>
          <a:p>
            <a:r>
              <a:rPr lang="en-US" sz="1600" dirty="0"/>
              <a:t>To identify and visualize the most influential Telegram channels and messages within a given linguistic and thematic scope.</a:t>
            </a:r>
          </a:p>
          <a:p>
            <a:endParaRPr lang="en-US" sz="1600" b="1" dirty="0"/>
          </a:p>
          <a:p>
            <a:r>
              <a:rPr lang="en-US" sz="1600" b="1" dirty="0"/>
              <a:t>How it works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Check language relevance</a:t>
            </a:r>
            <a:br>
              <a:rPr lang="en-US" sz="1600" dirty="0"/>
            </a:br>
            <a:r>
              <a:rPr lang="en-US" sz="1600" dirty="0"/>
              <a:t>→ Filters messages to keep only those written in languages relevant to the project’s scope.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Assess channel virality</a:t>
            </a:r>
            <a:br>
              <a:rPr lang="en-US" sz="1600" dirty="0"/>
            </a:br>
            <a:r>
              <a:rPr lang="en-US" sz="1600" dirty="0"/>
              <a:t>→ Evaluates how active, participative, and well-connected each channel is, combining indicators of:</a:t>
            </a:r>
            <a:br>
              <a:rPr lang="en-US" sz="1600" dirty="0"/>
            </a:br>
            <a:r>
              <a:rPr lang="en-US" sz="1600" dirty="0"/>
              <a:t>• posting activity</a:t>
            </a:r>
            <a:br>
              <a:rPr lang="en-US" sz="1600" dirty="0"/>
            </a:br>
            <a:r>
              <a:rPr lang="en-US" sz="1600" dirty="0"/>
              <a:t>• audience participation</a:t>
            </a:r>
            <a:br>
              <a:rPr lang="en-US" sz="1600" dirty="0"/>
            </a:br>
            <a:r>
              <a:rPr lang="en-US" sz="1600" dirty="0"/>
              <a:t>• network centrality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Assess message virality</a:t>
            </a:r>
            <a:br>
              <a:rPr lang="en-US" sz="1600" dirty="0"/>
            </a:br>
            <a:r>
              <a:rPr lang="en-US" sz="1600" dirty="0"/>
              <a:t>→ Measures how widely each message spreads through replies, forwards, and reactions.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Prioritize key content</a:t>
            </a:r>
            <a:br>
              <a:rPr lang="en-US" sz="1600" dirty="0"/>
            </a:br>
            <a:r>
              <a:rPr lang="en-US" sz="1600" dirty="0"/>
              <a:t>→ Focuses the analysis on the </a:t>
            </a:r>
            <a:r>
              <a:rPr lang="en-US" sz="1600" b="1" dirty="0"/>
              <a:t>most viral channels and messages</a:t>
            </a:r>
            <a:r>
              <a:rPr lang="en-US" sz="1600" dirty="0"/>
              <a:t>, determined by statistically defined thresholds.</a:t>
            </a:r>
          </a:p>
          <a:p>
            <a:endParaRPr lang="en-US" sz="1600" dirty="0"/>
          </a:p>
          <a:p>
            <a:r>
              <a:rPr lang="en-US" sz="1600" b="1" dirty="0"/>
              <a:t>Outcome</a:t>
            </a:r>
            <a:br>
              <a:rPr lang="en-US" sz="1600" dirty="0"/>
            </a:br>
            <a:r>
              <a:rPr lang="en-US" sz="1600" dirty="0"/>
              <a:t>A refined list of </a:t>
            </a:r>
            <a:r>
              <a:rPr lang="en-US" sz="1600" b="1" dirty="0"/>
              <a:t>high-impact Telegram channels and messages</a:t>
            </a:r>
            <a:r>
              <a:rPr lang="en-US" sz="1600" dirty="0"/>
              <a:t>, revealing key actors and clusters that drive information diffusion.</a:t>
            </a:r>
          </a:p>
        </p:txBody>
      </p:sp>
    </p:spTree>
    <p:extLst>
      <p:ext uri="{BB962C8B-B14F-4D97-AF65-F5344CB8AC3E}">
        <p14:creationId xmlns:p14="http://schemas.microsoft.com/office/powerpoint/2010/main" val="3412405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EEC0B2-F802-BE02-D516-E60CFDAF7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sp>
        <p:nvSpPr>
          <p:cNvPr id="5" name="Google Shape;393;g32913e9c632_0_102">
            <a:extLst>
              <a:ext uri="{FF2B5EF4-FFF2-40B4-BE49-F238E27FC236}">
                <a16:creationId xmlns:a16="http://schemas.microsoft.com/office/drawing/2014/main" id="{C674F1B1-F76D-7CE9-E35D-EC35CD068205}"/>
              </a:ext>
            </a:extLst>
          </p:cNvPr>
          <p:cNvSpPr/>
          <p:nvPr/>
        </p:nvSpPr>
        <p:spPr>
          <a:xfrm>
            <a:off x="524500" y="953984"/>
            <a:ext cx="900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Pipeline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93B4373D-285B-7ED5-F423-733864538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9301414"/>
              </p:ext>
            </p:extLst>
          </p:nvPr>
        </p:nvGraphicFramePr>
        <p:xfrm>
          <a:off x="920954" y="1681316"/>
          <a:ext cx="10346813" cy="443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30260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KID_ACTIONS">
      <a:dk1>
        <a:srgbClr val="181818"/>
      </a:dk1>
      <a:lt1>
        <a:srgbClr val="FFFFFF"/>
      </a:lt1>
      <a:dk2>
        <a:srgbClr val="3B527B"/>
      </a:dk2>
      <a:lt2>
        <a:srgbClr val="CBD6EB"/>
      </a:lt2>
      <a:accent1>
        <a:srgbClr val="5B7FBF"/>
      </a:accent1>
      <a:accent2>
        <a:srgbClr val="ADBFDF"/>
      </a:accent2>
      <a:accent3>
        <a:srgbClr val="B66513"/>
      </a:accent3>
      <a:accent4>
        <a:srgbClr val="F0800E"/>
      </a:accent4>
      <a:accent5>
        <a:srgbClr val="F8C087"/>
      </a:accent5>
      <a:accent6>
        <a:srgbClr val="FFEB61"/>
      </a:accent6>
      <a:hlink>
        <a:srgbClr val="F0800E"/>
      </a:hlink>
      <a:folHlink>
        <a:srgbClr val="ADBF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257</Words>
  <Application>Microsoft Office PowerPoint</Application>
  <PresentationFormat>Grand écran</PresentationFormat>
  <Paragraphs>23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Nunito Sans</vt:lpstr>
      <vt:lpstr>Nunito Sans Black</vt:lpstr>
      <vt:lpstr>Custom Design</vt:lpstr>
      <vt:lpstr>Telegram Relevance Evaluator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HOURI</dc:creator>
  <cp:lastModifiedBy>Yasmine HOURI</cp:lastModifiedBy>
  <cp:revision>6</cp:revision>
  <dcterms:created xsi:type="dcterms:W3CDTF">2025-10-16T10:35:41Z</dcterms:created>
  <dcterms:modified xsi:type="dcterms:W3CDTF">2025-10-16T12:30:41Z</dcterms:modified>
</cp:coreProperties>
</file>