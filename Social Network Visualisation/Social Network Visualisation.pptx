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"/>
  </p:notesMasterIdLst>
  <p:sldIdLst>
    <p:sldId id="285" r:id="rId3"/>
    <p:sldId id="279" r:id="rId4"/>
    <p:sldId id="258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760F7D-CBC1-4C2E-AAF6-790E9B9B34E9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A29D0C7A-9A61-419D-9193-E203EA561D0D}">
      <dgm:prSet phldrT="[Texte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800" b="1" dirty="0">
              <a:latin typeface="Arial" panose="020B0604020202020204" pitchFamily="34" charset="0"/>
              <a:cs typeface="Arial" panose="020B0604020202020204" pitchFamily="34" charset="0"/>
            </a:rPr>
            <a:t>Input: </a:t>
          </a:r>
          <a:r>
            <a:rPr lang="fr-FR" sz="1800" b="1" dirty="0" err="1">
              <a:latin typeface="Arial" panose="020B0604020202020204" pitchFamily="34" charset="0"/>
              <a:cs typeface="Arial" panose="020B0604020202020204" pitchFamily="34" charset="0"/>
            </a:rPr>
            <a:t>Preprocessed</a:t>
          </a:r>
          <a:r>
            <a:rPr lang="fr-FR" sz="18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fr-FR" sz="1800" b="1" dirty="0" err="1">
              <a:latin typeface="Arial" panose="020B0604020202020204" pitchFamily="34" charset="0"/>
              <a:cs typeface="Arial" panose="020B0604020202020204" pitchFamily="34" charset="0"/>
            </a:rPr>
            <a:t>Telegram</a:t>
          </a:r>
          <a:r>
            <a:rPr lang="fr-FR" sz="1800" b="1" dirty="0">
              <a:latin typeface="Arial" panose="020B0604020202020204" pitchFamily="34" charset="0"/>
              <a:cs typeface="Arial" panose="020B0604020202020204" pitchFamily="34" charset="0"/>
            </a:rPr>
            <a:t> messages</a:t>
          </a:r>
          <a:endParaRPr lang="fr-FR" sz="18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>
            <a:buFont typeface="Arial" panose="020B0604020202020204" pitchFamily="34" charset="0"/>
            <a:buChar char="•"/>
          </a:pP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Reads </a:t>
          </a:r>
          <a:r>
            <a:rPr lang="en-US" sz="1800" b="1" dirty="0" err="1">
              <a:latin typeface="Arial" panose="020B0604020202020204" pitchFamily="34" charset="0"/>
              <a:cs typeface="Arial" panose="020B0604020202020204" pitchFamily="34" charset="0"/>
            </a:rPr>
            <a:t>PyIceberg</a:t>
          </a:r>
          <a:r>
            <a:rPr lang="en-US" sz="1800" b="1" dirty="0">
              <a:latin typeface="Arial" panose="020B0604020202020204" pitchFamily="34" charset="0"/>
              <a:cs typeface="Arial" panose="020B0604020202020204" pitchFamily="34" charset="0"/>
            </a:rPr>
            <a:t> tables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from data provider</a:t>
          </a:r>
        </a:p>
        <a:p>
          <a:pPr>
            <a:buFont typeface="Arial" panose="020B0604020202020204" pitchFamily="34" charset="0"/>
            <a:buChar char="•"/>
          </a:pPr>
          <a:r>
            <a:rPr lang="fr-FR" sz="1800" dirty="0" err="1">
              <a:latin typeface="Arial" panose="020B0604020202020204" pitchFamily="34" charset="0"/>
              <a:cs typeface="Arial" panose="020B0604020202020204" pitchFamily="34" charset="0"/>
            </a:rPr>
            <a:t>Filters</a:t>
          </a:r>
          <a:r>
            <a:rPr lang="fr-FR" sz="1800" dirty="0">
              <a:latin typeface="Arial" panose="020B0604020202020204" pitchFamily="34" charset="0"/>
              <a:cs typeface="Arial" panose="020B0604020202020204" pitchFamily="34" charset="0"/>
            </a:rPr>
            <a:t> large data → </a:t>
          </a:r>
          <a:r>
            <a:rPr lang="fr-FR" sz="1800" dirty="0" err="1">
              <a:latin typeface="Arial" panose="020B0604020202020204" pitchFamily="34" charset="0"/>
              <a:cs typeface="Arial" panose="020B0604020202020204" pitchFamily="34" charset="0"/>
            </a:rPr>
            <a:t>keeps</a:t>
          </a:r>
          <a:r>
            <a:rPr lang="fr-FR" sz="1800" dirty="0">
              <a:latin typeface="Arial" panose="020B0604020202020204" pitchFamily="34" charset="0"/>
              <a:cs typeface="Arial" panose="020B0604020202020204" pitchFamily="34" charset="0"/>
            </a:rPr>
            <a:t> channels </a:t>
          </a:r>
          <a:r>
            <a:rPr lang="fr-FR" sz="1800" dirty="0" err="1">
              <a:latin typeface="Arial" panose="020B0604020202020204" pitchFamily="34" charset="0"/>
              <a:cs typeface="Arial" panose="020B0604020202020204" pitchFamily="34" charset="0"/>
            </a:rPr>
            <a:t>with</a:t>
          </a:r>
          <a:r>
            <a:rPr lang="fr-FR" sz="18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fr-FR" sz="1800" b="1" dirty="0">
              <a:latin typeface="Arial" panose="020B0604020202020204" pitchFamily="34" charset="0"/>
              <a:cs typeface="Arial" panose="020B0604020202020204" pitchFamily="34" charset="0"/>
            </a:rPr>
            <a:t>Latin alphabet </a:t>
          </a:r>
          <a:r>
            <a:rPr lang="fr-FR" sz="1800" b="1" dirty="0" err="1">
              <a:latin typeface="Arial" panose="020B0604020202020204" pitchFamily="34" charset="0"/>
              <a:cs typeface="Arial" panose="020B0604020202020204" pitchFamily="34" charset="0"/>
            </a:rPr>
            <a:t>titles</a:t>
          </a:r>
          <a:endParaRPr lang="fr-FR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E0BC8DC-FDE8-43DA-B8EC-C9D85B445311}" type="parTrans" cxnId="{722A9389-2FC3-4969-A54F-92034333F2B8}">
      <dgm:prSet/>
      <dgm:spPr/>
      <dgm:t>
        <a:bodyPr/>
        <a:lstStyle/>
        <a:p>
          <a:endParaRPr lang="fr-FR"/>
        </a:p>
      </dgm:t>
    </dgm:pt>
    <dgm:pt modelId="{5B6E503C-EFFF-4DB4-8CEB-7E76521499C4}" type="sibTrans" cxnId="{722A9389-2FC3-4969-A54F-92034333F2B8}">
      <dgm:prSet/>
      <dgm:spPr/>
      <dgm:t>
        <a:bodyPr/>
        <a:lstStyle/>
        <a:p>
          <a:endParaRPr lang="fr-FR"/>
        </a:p>
      </dgm:t>
    </dgm:pt>
    <dgm:pt modelId="{F8E09C11-CC18-42C1-996D-516FA97EEEF3}">
      <dgm:prSet phldrT="[Texte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800" b="1" dirty="0" err="1">
              <a:latin typeface="Arial" panose="020B0604020202020204" pitchFamily="34" charset="0"/>
              <a:cs typeface="Arial" panose="020B0604020202020204" pitchFamily="34" charset="0"/>
            </a:rPr>
            <a:t>Build</a:t>
          </a:r>
          <a:r>
            <a:rPr lang="fr-FR" sz="18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fr-FR" sz="1800" b="1" dirty="0" err="1">
              <a:latin typeface="Arial" panose="020B0604020202020204" pitchFamily="34" charset="0"/>
              <a:cs typeface="Arial" panose="020B0604020202020204" pitchFamily="34" charset="0"/>
            </a:rPr>
            <a:t>forwarding</a:t>
          </a:r>
          <a:r>
            <a:rPr lang="fr-FR" sz="1800" b="1" dirty="0">
              <a:latin typeface="Arial" panose="020B0604020202020204" pitchFamily="34" charset="0"/>
              <a:cs typeface="Arial" panose="020B0604020202020204" pitchFamily="34" charset="0"/>
            </a:rPr>
            <a:t> network (</a:t>
          </a:r>
          <a:r>
            <a:rPr lang="fr-FR" sz="1800" b="1" dirty="0" err="1">
              <a:latin typeface="Arial" panose="020B0604020202020204" pitchFamily="34" charset="0"/>
              <a:cs typeface="Arial" panose="020B0604020202020204" pitchFamily="34" charset="0"/>
            </a:rPr>
            <a:t>NetworkX</a:t>
          </a:r>
          <a:r>
            <a:rPr lang="fr-FR" sz="1800" b="1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fr-FR" sz="18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>
            <a:buFont typeface="Arial" panose="020B0604020202020204" pitchFamily="34" charset="0"/>
            <a:buChar char="•"/>
          </a:pPr>
          <a:r>
            <a:rPr lang="fr-FR" sz="1800" b="1" dirty="0" err="1">
              <a:latin typeface="Arial" panose="020B0604020202020204" pitchFamily="34" charset="0"/>
              <a:cs typeface="Arial" panose="020B0604020202020204" pitchFamily="34" charset="0"/>
            </a:rPr>
            <a:t>Nodes</a:t>
          </a:r>
          <a:r>
            <a:rPr lang="fr-FR" sz="1800" dirty="0">
              <a:latin typeface="Arial" panose="020B0604020202020204" pitchFamily="34" charset="0"/>
              <a:cs typeface="Arial" panose="020B0604020202020204" pitchFamily="34" charset="0"/>
            </a:rPr>
            <a:t> = </a:t>
          </a:r>
          <a:r>
            <a:rPr lang="fr-FR" sz="1800" dirty="0" err="1">
              <a:latin typeface="Arial" panose="020B0604020202020204" pitchFamily="34" charset="0"/>
              <a:cs typeface="Arial" panose="020B0604020202020204" pitchFamily="34" charset="0"/>
            </a:rPr>
            <a:t>Telegram</a:t>
          </a:r>
          <a:r>
            <a:rPr lang="fr-FR" sz="1800" dirty="0">
              <a:latin typeface="Arial" panose="020B0604020202020204" pitchFamily="34" charset="0"/>
              <a:cs typeface="Arial" panose="020B0604020202020204" pitchFamily="34" charset="0"/>
            </a:rPr>
            <a:t> channels</a:t>
          </a:r>
        </a:p>
        <a:p>
          <a:pPr>
            <a:buFont typeface="Arial" panose="020B0604020202020204" pitchFamily="34" charset="0"/>
            <a:buChar char="•"/>
          </a:pPr>
          <a:r>
            <a:rPr lang="en-US" sz="1800" b="1" dirty="0">
              <a:latin typeface="Arial" panose="020B0604020202020204" pitchFamily="34" charset="0"/>
              <a:cs typeface="Arial" panose="020B0604020202020204" pitchFamily="34" charset="0"/>
            </a:rPr>
            <a:t>Edges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= message forwards between channels</a:t>
          </a:r>
          <a:endParaRPr lang="fr-FR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046F422-539A-495D-9A01-BE75A6C8E647}" type="parTrans" cxnId="{B9A49F72-503D-419E-9105-ACCCC4E921C5}">
      <dgm:prSet/>
      <dgm:spPr/>
      <dgm:t>
        <a:bodyPr/>
        <a:lstStyle/>
        <a:p>
          <a:endParaRPr lang="fr-FR"/>
        </a:p>
      </dgm:t>
    </dgm:pt>
    <dgm:pt modelId="{5CFD2E7D-1C06-43E0-BC22-CBCC0A186019}" type="sibTrans" cxnId="{B9A49F72-503D-419E-9105-ACCCC4E921C5}">
      <dgm:prSet/>
      <dgm:spPr/>
      <dgm:t>
        <a:bodyPr/>
        <a:lstStyle/>
        <a:p>
          <a:endParaRPr lang="fr-FR"/>
        </a:p>
      </dgm:t>
    </dgm:pt>
    <dgm:pt modelId="{53745634-A51A-485C-BA73-4E96A4B0DCF7}">
      <dgm:prSet phldrT="[Texte]" custT="1"/>
      <dgm:spPr/>
      <dgm:t>
        <a:bodyPr/>
        <a:lstStyle/>
        <a:p>
          <a:pPr>
            <a:buNone/>
          </a:pPr>
          <a:r>
            <a:rPr lang="fr-FR" sz="1800" b="1" dirty="0" err="1">
              <a:latin typeface="Arial" panose="020B0604020202020204" pitchFamily="34" charset="0"/>
              <a:cs typeface="Arial" panose="020B0604020202020204" pitchFamily="34" charset="0"/>
            </a:rPr>
            <a:t>Identify</a:t>
          </a:r>
          <a:r>
            <a:rPr lang="fr-FR" sz="18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fr-FR" sz="1800" b="1" dirty="0" err="1">
              <a:latin typeface="Arial" panose="020B0604020202020204" pitchFamily="34" charset="0"/>
              <a:cs typeface="Arial" panose="020B0604020202020204" pitchFamily="34" charset="0"/>
            </a:rPr>
            <a:t>channel</a:t>
          </a:r>
          <a:r>
            <a:rPr lang="fr-FR" sz="1800" b="1" dirty="0">
              <a:latin typeface="Arial" panose="020B0604020202020204" pitchFamily="34" charset="0"/>
              <a:cs typeface="Arial" panose="020B0604020202020204" pitchFamily="34" charset="0"/>
            </a:rPr>
            <a:t> clusters</a:t>
          </a:r>
          <a:endParaRPr lang="fr-FR" sz="18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>
            <a:buNone/>
          </a:pP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Detect </a:t>
          </a:r>
          <a:r>
            <a:rPr lang="en-US" sz="1800" b="1" dirty="0">
              <a:latin typeface="Arial" panose="020B0604020202020204" pitchFamily="34" charset="0"/>
              <a:cs typeface="Arial" panose="020B0604020202020204" pitchFamily="34" charset="0"/>
            </a:rPr>
            <a:t>communities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using </a:t>
          </a:r>
          <a:r>
            <a:rPr lang="en-US" sz="1800" b="1" dirty="0">
              <a:latin typeface="Arial" panose="020B0604020202020204" pitchFamily="34" charset="0"/>
              <a:cs typeface="Arial" panose="020B0604020202020204" pitchFamily="34" charset="0"/>
            </a:rPr>
            <a:t>modularity optimization</a:t>
          </a:r>
          <a:b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</a:br>
          <a:endParaRPr lang="en-US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78D8F2A-1898-44D2-82D1-90B6B5527073}" type="parTrans" cxnId="{5E9BED85-1013-4E21-B83F-901DE72812C8}">
      <dgm:prSet/>
      <dgm:spPr/>
      <dgm:t>
        <a:bodyPr/>
        <a:lstStyle/>
        <a:p>
          <a:endParaRPr lang="fr-FR"/>
        </a:p>
      </dgm:t>
    </dgm:pt>
    <dgm:pt modelId="{157B8F36-8CCC-408C-B0D2-E51D0657BD5E}" type="sibTrans" cxnId="{5E9BED85-1013-4E21-B83F-901DE72812C8}">
      <dgm:prSet/>
      <dgm:spPr/>
      <dgm:t>
        <a:bodyPr/>
        <a:lstStyle/>
        <a:p>
          <a:endParaRPr lang="fr-FR"/>
        </a:p>
      </dgm:t>
    </dgm:pt>
    <dgm:pt modelId="{C5722918-8208-44FF-81EC-530B8EC0A917}">
      <dgm:prSet custT="1"/>
      <dgm:spPr/>
      <dgm:t>
        <a:bodyPr/>
        <a:lstStyle/>
        <a:p>
          <a:pPr>
            <a:buNone/>
          </a:pPr>
          <a:r>
            <a:rPr lang="fr-FR" sz="1800" b="1" dirty="0">
              <a:latin typeface="Arial" panose="020B0604020202020204" pitchFamily="34" charset="0"/>
              <a:cs typeface="Arial" panose="020B0604020202020204" pitchFamily="34" charset="0"/>
            </a:rPr>
            <a:t>Export </a:t>
          </a:r>
          <a:r>
            <a:rPr lang="fr-FR" sz="1800" b="1" dirty="0" err="1">
              <a:latin typeface="Arial" panose="020B0604020202020204" pitchFamily="34" charset="0"/>
              <a:cs typeface="Arial" panose="020B0604020202020204" pitchFamily="34" charset="0"/>
            </a:rPr>
            <a:t>results</a:t>
          </a:r>
          <a:endParaRPr lang="fr-FR" sz="18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>
            <a:buFont typeface="Arial" panose="020B0604020202020204" pitchFamily="34" charset="0"/>
            <a:buChar char="•"/>
          </a:pP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Save </a:t>
          </a:r>
          <a:r>
            <a:rPr lang="en-US" sz="1800" b="1" dirty="0">
              <a:latin typeface="Arial" panose="020B0604020202020204" pitchFamily="34" charset="0"/>
              <a:cs typeface="Arial" panose="020B0604020202020204" pitchFamily="34" charset="0"/>
            </a:rPr>
            <a:t>network structure and attributes</a:t>
          </a:r>
        </a:p>
        <a:p>
          <a:pPr>
            <a:buFont typeface="Arial" panose="020B0604020202020204" pitchFamily="34" charset="0"/>
            <a:buChar char="•"/>
          </a:pPr>
          <a:r>
            <a:rPr lang="fr-FR" sz="1800" dirty="0">
              <a:latin typeface="Arial" panose="020B0604020202020204" pitchFamily="34" charset="0"/>
              <a:cs typeface="Arial" panose="020B0604020202020204" pitchFamily="34" charset="0"/>
            </a:rPr>
            <a:t>Output file: </a:t>
          </a:r>
          <a:r>
            <a:rPr lang="fr-FR" sz="1800" b="1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r>
            <a:rPr lang="fr-FR" sz="1800" b="1" dirty="0" err="1">
              <a:latin typeface="Arial" panose="020B0604020202020204" pitchFamily="34" charset="0"/>
              <a:cs typeface="Arial" panose="020B0604020202020204" pitchFamily="34" charset="0"/>
            </a:rPr>
            <a:t>gexf</a:t>
          </a:r>
          <a:r>
            <a:rPr lang="fr-FR" sz="1800" dirty="0">
              <a:latin typeface="Arial" panose="020B0604020202020204" pitchFamily="34" charset="0"/>
              <a:cs typeface="Arial" panose="020B0604020202020204" pitchFamily="34" charset="0"/>
            </a:rPr>
            <a:t> (</a:t>
          </a:r>
          <a:r>
            <a:rPr lang="fr-FR" sz="1800" dirty="0" err="1">
              <a:latin typeface="Arial" panose="020B0604020202020204" pitchFamily="34" charset="0"/>
              <a:cs typeface="Arial" panose="020B0604020202020204" pitchFamily="34" charset="0"/>
            </a:rPr>
            <a:t>Gephi</a:t>
          </a:r>
          <a:r>
            <a:rPr lang="fr-FR" sz="1800" dirty="0">
              <a:latin typeface="Arial" panose="020B0604020202020204" pitchFamily="34" charset="0"/>
              <a:cs typeface="Arial" panose="020B0604020202020204" pitchFamily="34" charset="0"/>
            </a:rPr>
            <a:t>-compatible format)</a:t>
          </a:r>
        </a:p>
      </dgm:t>
    </dgm:pt>
    <dgm:pt modelId="{F0242C3F-E92A-4B60-BC93-78282D541517}" type="parTrans" cxnId="{89CFABE0-37C9-4313-B8D1-0BCF4FAF9B5B}">
      <dgm:prSet/>
      <dgm:spPr/>
      <dgm:t>
        <a:bodyPr/>
        <a:lstStyle/>
        <a:p>
          <a:endParaRPr lang="fr-FR"/>
        </a:p>
      </dgm:t>
    </dgm:pt>
    <dgm:pt modelId="{244FDBDD-0E10-4665-80A5-68688364A28C}" type="sibTrans" cxnId="{89CFABE0-37C9-4313-B8D1-0BCF4FAF9B5B}">
      <dgm:prSet/>
      <dgm:spPr/>
      <dgm:t>
        <a:bodyPr/>
        <a:lstStyle/>
        <a:p>
          <a:endParaRPr lang="fr-FR"/>
        </a:p>
      </dgm:t>
    </dgm:pt>
    <dgm:pt modelId="{925BA173-8993-4071-B96A-2D9AF83A60E6}" type="pres">
      <dgm:prSet presAssocID="{4C760F7D-CBC1-4C2E-AAF6-790E9B9B34E9}" presName="Name0" presStyleCnt="0">
        <dgm:presLayoutVars>
          <dgm:dir/>
          <dgm:resizeHandles val="exact"/>
        </dgm:presLayoutVars>
      </dgm:prSet>
      <dgm:spPr/>
    </dgm:pt>
    <dgm:pt modelId="{91EC8A22-2069-4464-8D68-106483A085C0}" type="pres">
      <dgm:prSet presAssocID="{A29D0C7A-9A61-419D-9193-E203EA561D0D}" presName="node" presStyleLbl="node1" presStyleIdx="0" presStyleCnt="4" custScaleY="197061">
        <dgm:presLayoutVars>
          <dgm:bulletEnabled val="1"/>
        </dgm:presLayoutVars>
      </dgm:prSet>
      <dgm:spPr/>
    </dgm:pt>
    <dgm:pt modelId="{A893EC82-9ED1-499E-BDEC-608DB4F8C4EB}" type="pres">
      <dgm:prSet presAssocID="{5B6E503C-EFFF-4DB4-8CEB-7E76521499C4}" presName="sibTrans" presStyleLbl="sibTrans2D1" presStyleIdx="0" presStyleCnt="3"/>
      <dgm:spPr/>
    </dgm:pt>
    <dgm:pt modelId="{092899FE-656E-4ABD-9A11-ABB459B944F8}" type="pres">
      <dgm:prSet presAssocID="{5B6E503C-EFFF-4DB4-8CEB-7E76521499C4}" presName="connectorText" presStyleLbl="sibTrans2D1" presStyleIdx="0" presStyleCnt="3"/>
      <dgm:spPr/>
    </dgm:pt>
    <dgm:pt modelId="{D92EEF86-2F12-4DF9-A32E-F7078C45C02B}" type="pres">
      <dgm:prSet presAssocID="{F8E09C11-CC18-42C1-996D-516FA97EEEF3}" presName="node" presStyleLbl="node1" presStyleIdx="1" presStyleCnt="4" custScaleY="199725">
        <dgm:presLayoutVars>
          <dgm:bulletEnabled val="1"/>
        </dgm:presLayoutVars>
      </dgm:prSet>
      <dgm:spPr/>
    </dgm:pt>
    <dgm:pt modelId="{D7697E1D-B6CB-4B44-90A8-E7F52ABC0ECE}" type="pres">
      <dgm:prSet presAssocID="{5CFD2E7D-1C06-43E0-BC22-CBCC0A186019}" presName="sibTrans" presStyleLbl="sibTrans2D1" presStyleIdx="1" presStyleCnt="3"/>
      <dgm:spPr/>
    </dgm:pt>
    <dgm:pt modelId="{961FC411-DCD6-4102-AF17-6238C80CA55B}" type="pres">
      <dgm:prSet presAssocID="{5CFD2E7D-1C06-43E0-BC22-CBCC0A186019}" presName="connectorText" presStyleLbl="sibTrans2D1" presStyleIdx="1" presStyleCnt="3"/>
      <dgm:spPr/>
    </dgm:pt>
    <dgm:pt modelId="{6C4E8AC0-9303-48C6-BF8B-67DB19CEB9E4}" type="pres">
      <dgm:prSet presAssocID="{53745634-A51A-485C-BA73-4E96A4B0DCF7}" presName="node" presStyleLbl="node1" presStyleIdx="2" presStyleCnt="4" custScaleY="190401">
        <dgm:presLayoutVars>
          <dgm:bulletEnabled val="1"/>
        </dgm:presLayoutVars>
      </dgm:prSet>
      <dgm:spPr/>
    </dgm:pt>
    <dgm:pt modelId="{3A8686EF-C55E-4E5F-BE24-9C018A869047}" type="pres">
      <dgm:prSet presAssocID="{157B8F36-8CCC-408C-B0D2-E51D0657BD5E}" presName="sibTrans" presStyleLbl="sibTrans2D1" presStyleIdx="2" presStyleCnt="3"/>
      <dgm:spPr/>
    </dgm:pt>
    <dgm:pt modelId="{015DD2A0-3100-4AC4-9E91-5CDCF4F624A5}" type="pres">
      <dgm:prSet presAssocID="{157B8F36-8CCC-408C-B0D2-E51D0657BD5E}" presName="connectorText" presStyleLbl="sibTrans2D1" presStyleIdx="2" presStyleCnt="3"/>
      <dgm:spPr/>
    </dgm:pt>
    <dgm:pt modelId="{30ABA1DA-5095-4612-8DF3-6234AB514AE2}" type="pres">
      <dgm:prSet presAssocID="{C5722918-8208-44FF-81EC-530B8EC0A917}" presName="node" presStyleLbl="node1" presStyleIdx="3" presStyleCnt="4" custScaleY="194102">
        <dgm:presLayoutVars>
          <dgm:bulletEnabled val="1"/>
        </dgm:presLayoutVars>
      </dgm:prSet>
      <dgm:spPr/>
    </dgm:pt>
  </dgm:ptLst>
  <dgm:cxnLst>
    <dgm:cxn modelId="{F2D56723-2642-4322-8FE0-ADD274814D4C}" type="presOf" srcId="{F8E09C11-CC18-42C1-996D-516FA97EEEF3}" destId="{D92EEF86-2F12-4DF9-A32E-F7078C45C02B}" srcOrd="0" destOrd="0" presId="urn:microsoft.com/office/officeart/2005/8/layout/process1"/>
    <dgm:cxn modelId="{0410395D-4EDD-4DF0-B1EF-0A09F1EDD2B7}" type="presOf" srcId="{5CFD2E7D-1C06-43E0-BC22-CBCC0A186019}" destId="{D7697E1D-B6CB-4B44-90A8-E7F52ABC0ECE}" srcOrd="0" destOrd="0" presId="urn:microsoft.com/office/officeart/2005/8/layout/process1"/>
    <dgm:cxn modelId="{403DF441-DBA5-4C2E-9D71-FE65B50FEA53}" type="presOf" srcId="{4C760F7D-CBC1-4C2E-AAF6-790E9B9B34E9}" destId="{925BA173-8993-4071-B96A-2D9AF83A60E6}" srcOrd="0" destOrd="0" presId="urn:microsoft.com/office/officeart/2005/8/layout/process1"/>
    <dgm:cxn modelId="{9D255742-0478-48A0-8639-92042DF4742C}" type="presOf" srcId="{157B8F36-8CCC-408C-B0D2-E51D0657BD5E}" destId="{015DD2A0-3100-4AC4-9E91-5CDCF4F624A5}" srcOrd="1" destOrd="0" presId="urn:microsoft.com/office/officeart/2005/8/layout/process1"/>
    <dgm:cxn modelId="{CB2F9763-EB47-4A09-A0FE-C908CCCD3DFC}" type="presOf" srcId="{5B6E503C-EFFF-4DB4-8CEB-7E76521499C4}" destId="{A893EC82-9ED1-499E-BDEC-608DB4F8C4EB}" srcOrd="0" destOrd="0" presId="urn:microsoft.com/office/officeart/2005/8/layout/process1"/>
    <dgm:cxn modelId="{B9A49F72-503D-419E-9105-ACCCC4E921C5}" srcId="{4C760F7D-CBC1-4C2E-AAF6-790E9B9B34E9}" destId="{F8E09C11-CC18-42C1-996D-516FA97EEEF3}" srcOrd="1" destOrd="0" parTransId="{C046F422-539A-495D-9A01-BE75A6C8E647}" sibTransId="{5CFD2E7D-1C06-43E0-BC22-CBCC0A186019}"/>
    <dgm:cxn modelId="{87BF2B54-7044-4F83-94DA-CCF6D5B2237D}" type="presOf" srcId="{53745634-A51A-485C-BA73-4E96A4B0DCF7}" destId="{6C4E8AC0-9303-48C6-BF8B-67DB19CEB9E4}" srcOrd="0" destOrd="0" presId="urn:microsoft.com/office/officeart/2005/8/layout/process1"/>
    <dgm:cxn modelId="{867EB857-9963-4FF0-96A6-6BD86BB7B4EE}" type="presOf" srcId="{A29D0C7A-9A61-419D-9193-E203EA561D0D}" destId="{91EC8A22-2069-4464-8D68-106483A085C0}" srcOrd="0" destOrd="0" presId="urn:microsoft.com/office/officeart/2005/8/layout/process1"/>
    <dgm:cxn modelId="{7E7E4B83-2D2A-4FC9-87C1-BBB7BC795A8E}" type="presOf" srcId="{5B6E503C-EFFF-4DB4-8CEB-7E76521499C4}" destId="{092899FE-656E-4ABD-9A11-ABB459B944F8}" srcOrd="1" destOrd="0" presId="urn:microsoft.com/office/officeart/2005/8/layout/process1"/>
    <dgm:cxn modelId="{5E9BED85-1013-4E21-B83F-901DE72812C8}" srcId="{4C760F7D-CBC1-4C2E-AAF6-790E9B9B34E9}" destId="{53745634-A51A-485C-BA73-4E96A4B0DCF7}" srcOrd="2" destOrd="0" parTransId="{478D8F2A-1898-44D2-82D1-90B6B5527073}" sibTransId="{157B8F36-8CCC-408C-B0D2-E51D0657BD5E}"/>
    <dgm:cxn modelId="{722A9389-2FC3-4969-A54F-92034333F2B8}" srcId="{4C760F7D-CBC1-4C2E-AAF6-790E9B9B34E9}" destId="{A29D0C7A-9A61-419D-9193-E203EA561D0D}" srcOrd="0" destOrd="0" parTransId="{7E0BC8DC-FDE8-43DA-B8EC-C9D85B445311}" sibTransId="{5B6E503C-EFFF-4DB4-8CEB-7E76521499C4}"/>
    <dgm:cxn modelId="{839D1CB1-9C64-41CA-8817-C6652FB96131}" type="presOf" srcId="{C5722918-8208-44FF-81EC-530B8EC0A917}" destId="{30ABA1DA-5095-4612-8DF3-6234AB514AE2}" srcOrd="0" destOrd="0" presId="urn:microsoft.com/office/officeart/2005/8/layout/process1"/>
    <dgm:cxn modelId="{646379B8-FA78-469B-97A8-465D1999EA8E}" type="presOf" srcId="{157B8F36-8CCC-408C-B0D2-E51D0657BD5E}" destId="{3A8686EF-C55E-4E5F-BE24-9C018A869047}" srcOrd="0" destOrd="0" presId="urn:microsoft.com/office/officeart/2005/8/layout/process1"/>
    <dgm:cxn modelId="{D5AE31CA-B4B5-4E19-8833-FA3EF322C89F}" type="presOf" srcId="{5CFD2E7D-1C06-43E0-BC22-CBCC0A186019}" destId="{961FC411-DCD6-4102-AF17-6238C80CA55B}" srcOrd="1" destOrd="0" presId="urn:microsoft.com/office/officeart/2005/8/layout/process1"/>
    <dgm:cxn modelId="{89CFABE0-37C9-4313-B8D1-0BCF4FAF9B5B}" srcId="{4C760F7D-CBC1-4C2E-AAF6-790E9B9B34E9}" destId="{C5722918-8208-44FF-81EC-530B8EC0A917}" srcOrd="3" destOrd="0" parTransId="{F0242C3F-E92A-4B60-BC93-78282D541517}" sibTransId="{244FDBDD-0E10-4665-80A5-68688364A28C}"/>
    <dgm:cxn modelId="{8856C542-F6DA-467A-9C4F-B91DA47E4E4A}" type="presParOf" srcId="{925BA173-8993-4071-B96A-2D9AF83A60E6}" destId="{91EC8A22-2069-4464-8D68-106483A085C0}" srcOrd="0" destOrd="0" presId="urn:microsoft.com/office/officeart/2005/8/layout/process1"/>
    <dgm:cxn modelId="{6D08A08C-2A9B-4FD5-8F67-FFBE7F339718}" type="presParOf" srcId="{925BA173-8993-4071-B96A-2D9AF83A60E6}" destId="{A893EC82-9ED1-499E-BDEC-608DB4F8C4EB}" srcOrd="1" destOrd="0" presId="urn:microsoft.com/office/officeart/2005/8/layout/process1"/>
    <dgm:cxn modelId="{DF9AD05C-9BAD-4A52-93E2-8F1634194A08}" type="presParOf" srcId="{A893EC82-9ED1-499E-BDEC-608DB4F8C4EB}" destId="{092899FE-656E-4ABD-9A11-ABB459B944F8}" srcOrd="0" destOrd="0" presId="urn:microsoft.com/office/officeart/2005/8/layout/process1"/>
    <dgm:cxn modelId="{EEF15252-BEB1-45F1-8EDA-80A49CC3EDC6}" type="presParOf" srcId="{925BA173-8993-4071-B96A-2D9AF83A60E6}" destId="{D92EEF86-2F12-4DF9-A32E-F7078C45C02B}" srcOrd="2" destOrd="0" presId="urn:microsoft.com/office/officeart/2005/8/layout/process1"/>
    <dgm:cxn modelId="{C9BA0753-C574-42CB-AF58-E83E748C9E48}" type="presParOf" srcId="{925BA173-8993-4071-B96A-2D9AF83A60E6}" destId="{D7697E1D-B6CB-4B44-90A8-E7F52ABC0ECE}" srcOrd="3" destOrd="0" presId="urn:microsoft.com/office/officeart/2005/8/layout/process1"/>
    <dgm:cxn modelId="{0877A773-FC18-45D0-887A-ED4FDEEEB36E}" type="presParOf" srcId="{D7697E1D-B6CB-4B44-90A8-E7F52ABC0ECE}" destId="{961FC411-DCD6-4102-AF17-6238C80CA55B}" srcOrd="0" destOrd="0" presId="urn:microsoft.com/office/officeart/2005/8/layout/process1"/>
    <dgm:cxn modelId="{EA01E899-FFEB-4B2F-9F79-F124F3A00752}" type="presParOf" srcId="{925BA173-8993-4071-B96A-2D9AF83A60E6}" destId="{6C4E8AC0-9303-48C6-BF8B-67DB19CEB9E4}" srcOrd="4" destOrd="0" presId="urn:microsoft.com/office/officeart/2005/8/layout/process1"/>
    <dgm:cxn modelId="{A0567923-1C35-4A20-9293-77708126D417}" type="presParOf" srcId="{925BA173-8993-4071-B96A-2D9AF83A60E6}" destId="{3A8686EF-C55E-4E5F-BE24-9C018A869047}" srcOrd="5" destOrd="0" presId="urn:microsoft.com/office/officeart/2005/8/layout/process1"/>
    <dgm:cxn modelId="{7C600116-6CE3-4C23-A73F-7F429627FB2C}" type="presParOf" srcId="{3A8686EF-C55E-4E5F-BE24-9C018A869047}" destId="{015DD2A0-3100-4AC4-9E91-5CDCF4F624A5}" srcOrd="0" destOrd="0" presId="urn:microsoft.com/office/officeart/2005/8/layout/process1"/>
    <dgm:cxn modelId="{ECD8BE61-7DBD-4DD0-BF18-B485D40B647C}" type="presParOf" srcId="{925BA173-8993-4071-B96A-2D9AF83A60E6}" destId="{30ABA1DA-5095-4612-8DF3-6234AB514AE2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EC8A22-2069-4464-8D68-106483A085C0}">
      <dsp:nvSpPr>
        <dsp:cNvPr id="0" name=""/>
        <dsp:cNvSpPr/>
      </dsp:nvSpPr>
      <dsp:spPr>
        <a:xfrm>
          <a:off x="9751" y="0"/>
          <a:ext cx="2018480" cy="43513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800" b="1" kern="1200" dirty="0">
              <a:latin typeface="Arial" panose="020B0604020202020204" pitchFamily="34" charset="0"/>
              <a:cs typeface="Arial" panose="020B0604020202020204" pitchFamily="34" charset="0"/>
            </a:rPr>
            <a:t>Input: </a:t>
          </a:r>
          <a:r>
            <a:rPr lang="fr-FR" sz="1800" b="1" kern="1200" dirty="0" err="1">
              <a:latin typeface="Arial" panose="020B0604020202020204" pitchFamily="34" charset="0"/>
              <a:cs typeface="Arial" panose="020B0604020202020204" pitchFamily="34" charset="0"/>
            </a:rPr>
            <a:t>Preprocessed</a:t>
          </a:r>
          <a:r>
            <a:rPr lang="fr-FR" sz="18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fr-FR" sz="1800" b="1" kern="1200" dirty="0" err="1">
              <a:latin typeface="Arial" panose="020B0604020202020204" pitchFamily="34" charset="0"/>
              <a:cs typeface="Arial" panose="020B0604020202020204" pitchFamily="34" charset="0"/>
            </a:rPr>
            <a:t>Telegram</a:t>
          </a:r>
          <a:r>
            <a:rPr lang="fr-FR" sz="1800" b="1" kern="1200" dirty="0">
              <a:latin typeface="Arial" panose="020B0604020202020204" pitchFamily="34" charset="0"/>
              <a:cs typeface="Arial" panose="020B0604020202020204" pitchFamily="34" charset="0"/>
            </a:rPr>
            <a:t> messages</a:t>
          </a:r>
          <a:endParaRPr lang="fr-FR" sz="18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Reads </a:t>
          </a:r>
          <a:r>
            <a:rPr lang="en-US" sz="1800" b="1" kern="1200" dirty="0" err="1">
              <a:latin typeface="Arial" panose="020B0604020202020204" pitchFamily="34" charset="0"/>
              <a:cs typeface="Arial" panose="020B0604020202020204" pitchFamily="34" charset="0"/>
            </a:rPr>
            <a:t>PyIceberg</a:t>
          </a:r>
          <a:r>
            <a:rPr lang="en-US" sz="1800" b="1" kern="1200" dirty="0">
              <a:latin typeface="Arial" panose="020B0604020202020204" pitchFamily="34" charset="0"/>
              <a:cs typeface="Arial" panose="020B0604020202020204" pitchFamily="34" charset="0"/>
            </a:rPr>
            <a:t> tables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from data provider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Filters</a:t>
          </a:r>
          <a:r>
            <a:rPr lang="fr-FR" sz="1800" kern="1200" dirty="0">
              <a:latin typeface="Arial" panose="020B0604020202020204" pitchFamily="34" charset="0"/>
              <a:cs typeface="Arial" panose="020B0604020202020204" pitchFamily="34" charset="0"/>
            </a:rPr>
            <a:t> large data → </a:t>
          </a:r>
          <a:r>
            <a:rPr lang="fr-FR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keeps</a:t>
          </a:r>
          <a:r>
            <a:rPr lang="fr-FR" sz="1800" kern="1200" dirty="0">
              <a:latin typeface="Arial" panose="020B0604020202020204" pitchFamily="34" charset="0"/>
              <a:cs typeface="Arial" panose="020B0604020202020204" pitchFamily="34" charset="0"/>
            </a:rPr>
            <a:t> channels </a:t>
          </a:r>
          <a:r>
            <a:rPr lang="fr-FR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with</a:t>
          </a:r>
          <a:r>
            <a:rPr lang="fr-FR" sz="18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fr-FR" sz="1800" b="1" kern="1200" dirty="0">
              <a:latin typeface="Arial" panose="020B0604020202020204" pitchFamily="34" charset="0"/>
              <a:cs typeface="Arial" panose="020B0604020202020204" pitchFamily="34" charset="0"/>
            </a:rPr>
            <a:t>Latin alphabet </a:t>
          </a:r>
          <a:r>
            <a:rPr lang="fr-FR" sz="1800" b="1" kern="1200" dirty="0" err="1">
              <a:latin typeface="Arial" panose="020B0604020202020204" pitchFamily="34" charset="0"/>
              <a:cs typeface="Arial" panose="020B0604020202020204" pitchFamily="34" charset="0"/>
            </a:rPr>
            <a:t>titles</a:t>
          </a:r>
          <a:endParaRPr lang="fr-FR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8870" y="59119"/>
        <a:ext cx="1900242" cy="4233100"/>
      </dsp:txXfrm>
    </dsp:sp>
    <dsp:sp modelId="{A893EC82-9ED1-499E-BDEC-608DB4F8C4EB}">
      <dsp:nvSpPr>
        <dsp:cNvPr id="0" name=""/>
        <dsp:cNvSpPr/>
      </dsp:nvSpPr>
      <dsp:spPr>
        <a:xfrm>
          <a:off x="2230079" y="1925377"/>
          <a:ext cx="427917" cy="5005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100" kern="1200"/>
        </a:p>
      </dsp:txBody>
      <dsp:txXfrm>
        <a:off x="2230079" y="2025494"/>
        <a:ext cx="299542" cy="300349"/>
      </dsp:txXfrm>
    </dsp:sp>
    <dsp:sp modelId="{D92EEF86-2F12-4DF9-A32E-F7078C45C02B}">
      <dsp:nvSpPr>
        <dsp:cNvPr id="0" name=""/>
        <dsp:cNvSpPr/>
      </dsp:nvSpPr>
      <dsp:spPr>
        <a:xfrm>
          <a:off x="2835623" y="-29412"/>
          <a:ext cx="2018480" cy="44101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800" b="1" kern="1200" dirty="0" err="1">
              <a:latin typeface="Arial" panose="020B0604020202020204" pitchFamily="34" charset="0"/>
              <a:cs typeface="Arial" panose="020B0604020202020204" pitchFamily="34" charset="0"/>
            </a:rPr>
            <a:t>Build</a:t>
          </a:r>
          <a:r>
            <a:rPr lang="fr-FR" sz="18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fr-FR" sz="1800" b="1" kern="1200" dirty="0" err="1">
              <a:latin typeface="Arial" panose="020B0604020202020204" pitchFamily="34" charset="0"/>
              <a:cs typeface="Arial" panose="020B0604020202020204" pitchFamily="34" charset="0"/>
            </a:rPr>
            <a:t>forwarding</a:t>
          </a:r>
          <a:r>
            <a:rPr lang="fr-FR" sz="1800" b="1" kern="1200" dirty="0">
              <a:latin typeface="Arial" panose="020B0604020202020204" pitchFamily="34" charset="0"/>
              <a:cs typeface="Arial" panose="020B0604020202020204" pitchFamily="34" charset="0"/>
            </a:rPr>
            <a:t> network (</a:t>
          </a:r>
          <a:r>
            <a:rPr lang="fr-FR" sz="1800" b="1" kern="1200" dirty="0" err="1">
              <a:latin typeface="Arial" panose="020B0604020202020204" pitchFamily="34" charset="0"/>
              <a:cs typeface="Arial" panose="020B0604020202020204" pitchFamily="34" charset="0"/>
            </a:rPr>
            <a:t>NetworkX</a:t>
          </a:r>
          <a:r>
            <a:rPr lang="fr-FR" sz="1800" b="1" kern="12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fr-FR" sz="18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800" b="1" kern="1200" dirty="0" err="1">
              <a:latin typeface="Arial" panose="020B0604020202020204" pitchFamily="34" charset="0"/>
              <a:cs typeface="Arial" panose="020B0604020202020204" pitchFamily="34" charset="0"/>
            </a:rPr>
            <a:t>Nodes</a:t>
          </a:r>
          <a:r>
            <a:rPr lang="fr-FR" sz="1800" kern="1200" dirty="0">
              <a:latin typeface="Arial" panose="020B0604020202020204" pitchFamily="34" charset="0"/>
              <a:cs typeface="Arial" panose="020B0604020202020204" pitchFamily="34" charset="0"/>
            </a:rPr>
            <a:t> = </a:t>
          </a:r>
          <a:r>
            <a:rPr lang="fr-FR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Telegram</a:t>
          </a:r>
          <a:r>
            <a:rPr lang="fr-FR" sz="1800" kern="1200" dirty="0">
              <a:latin typeface="Arial" panose="020B0604020202020204" pitchFamily="34" charset="0"/>
              <a:cs typeface="Arial" panose="020B0604020202020204" pitchFamily="34" charset="0"/>
            </a:rPr>
            <a:t> channels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b="1" kern="1200" dirty="0">
              <a:latin typeface="Arial" panose="020B0604020202020204" pitchFamily="34" charset="0"/>
              <a:cs typeface="Arial" panose="020B0604020202020204" pitchFamily="34" charset="0"/>
            </a:rPr>
            <a:t>Edges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= message forwards between channels</a:t>
          </a:r>
          <a:endParaRPr lang="fr-FR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94742" y="29707"/>
        <a:ext cx="1900242" cy="4291924"/>
      </dsp:txXfrm>
    </dsp:sp>
    <dsp:sp modelId="{D7697E1D-B6CB-4B44-90A8-E7F52ABC0ECE}">
      <dsp:nvSpPr>
        <dsp:cNvPr id="0" name=""/>
        <dsp:cNvSpPr/>
      </dsp:nvSpPr>
      <dsp:spPr>
        <a:xfrm>
          <a:off x="5055951" y="1925377"/>
          <a:ext cx="427917" cy="5005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100" kern="1200"/>
        </a:p>
      </dsp:txBody>
      <dsp:txXfrm>
        <a:off x="5055951" y="2025494"/>
        <a:ext cx="299542" cy="300349"/>
      </dsp:txXfrm>
    </dsp:sp>
    <dsp:sp modelId="{6C4E8AC0-9303-48C6-BF8B-67DB19CEB9E4}">
      <dsp:nvSpPr>
        <dsp:cNvPr id="0" name=""/>
        <dsp:cNvSpPr/>
      </dsp:nvSpPr>
      <dsp:spPr>
        <a:xfrm>
          <a:off x="5661496" y="73530"/>
          <a:ext cx="2018480" cy="4204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 err="1">
              <a:latin typeface="Arial" panose="020B0604020202020204" pitchFamily="34" charset="0"/>
              <a:cs typeface="Arial" panose="020B0604020202020204" pitchFamily="34" charset="0"/>
            </a:rPr>
            <a:t>Identify</a:t>
          </a:r>
          <a:r>
            <a:rPr lang="fr-FR" sz="18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fr-FR" sz="1800" b="1" kern="1200" dirty="0" err="1">
              <a:latin typeface="Arial" panose="020B0604020202020204" pitchFamily="34" charset="0"/>
              <a:cs typeface="Arial" panose="020B0604020202020204" pitchFamily="34" charset="0"/>
            </a:rPr>
            <a:t>channel</a:t>
          </a:r>
          <a:r>
            <a:rPr lang="fr-FR" sz="1800" b="1" kern="1200" dirty="0">
              <a:latin typeface="Arial" panose="020B0604020202020204" pitchFamily="34" charset="0"/>
              <a:cs typeface="Arial" panose="020B0604020202020204" pitchFamily="34" charset="0"/>
            </a:rPr>
            <a:t> clusters</a:t>
          </a:r>
          <a:endParaRPr lang="fr-FR" sz="18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Detect </a:t>
          </a:r>
          <a:r>
            <a:rPr lang="en-US" sz="1800" b="1" kern="1200" dirty="0">
              <a:latin typeface="Arial" panose="020B0604020202020204" pitchFamily="34" charset="0"/>
              <a:cs typeface="Arial" panose="020B0604020202020204" pitchFamily="34" charset="0"/>
            </a:rPr>
            <a:t>communities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using </a:t>
          </a:r>
          <a:r>
            <a:rPr lang="en-US" sz="1800" b="1" kern="1200" dirty="0">
              <a:latin typeface="Arial" panose="020B0604020202020204" pitchFamily="34" charset="0"/>
              <a:cs typeface="Arial" panose="020B0604020202020204" pitchFamily="34" charset="0"/>
            </a:rPr>
            <a:t>modularity optimization</a:t>
          </a:r>
          <a:b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</a:br>
          <a:endParaRPr lang="en-US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720615" y="132649"/>
        <a:ext cx="1900242" cy="4086039"/>
      </dsp:txXfrm>
    </dsp:sp>
    <dsp:sp modelId="{3A8686EF-C55E-4E5F-BE24-9C018A869047}">
      <dsp:nvSpPr>
        <dsp:cNvPr id="0" name=""/>
        <dsp:cNvSpPr/>
      </dsp:nvSpPr>
      <dsp:spPr>
        <a:xfrm>
          <a:off x="7881824" y="1925377"/>
          <a:ext cx="427917" cy="5005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100" kern="1200"/>
        </a:p>
      </dsp:txBody>
      <dsp:txXfrm>
        <a:off x="7881824" y="2025494"/>
        <a:ext cx="299542" cy="300349"/>
      </dsp:txXfrm>
    </dsp:sp>
    <dsp:sp modelId="{30ABA1DA-5095-4612-8DF3-6234AB514AE2}">
      <dsp:nvSpPr>
        <dsp:cNvPr id="0" name=""/>
        <dsp:cNvSpPr/>
      </dsp:nvSpPr>
      <dsp:spPr>
        <a:xfrm>
          <a:off x="8487368" y="32669"/>
          <a:ext cx="2018480" cy="42859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>
              <a:latin typeface="Arial" panose="020B0604020202020204" pitchFamily="34" charset="0"/>
              <a:cs typeface="Arial" panose="020B0604020202020204" pitchFamily="34" charset="0"/>
            </a:rPr>
            <a:t>Export </a:t>
          </a:r>
          <a:r>
            <a:rPr lang="fr-FR" sz="1800" b="1" kern="1200" dirty="0" err="1">
              <a:latin typeface="Arial" panose="020B0604020202020204" pitchFamily="34" charset="0"/>
              <a:cs typeface="Arial" panose="020B0604020202020204" pitchFamily="34" charset="0"/>
            </a:rPr>
            <a:t>results</a:t>
          </a:r>
          <a:endParaRPr lang="fr-FR" sz="18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Save </a:t>
          </a:r>
          <a:r>
            <a:rPr lang="en-US" sz="1800" b="1" kern="1200" dirty="0">
              <a:latin typeface="Arial" panose="020B0604020202020204" pitchFamily="34" charset="0"/>
              <a:cs typeface="Arial" panose="020B0604020202020204" pitchFamily="34" charset="0"/>
            </a:rPr>
            <a:t>network structure and attributes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800" kern="1200" dirty="0">
              <a:latin typeface="Arial" panose="020B0604020202020204" pitchFamily="34" charset="0"/>
              <a:cs typeface="Arial" panose="020B0604020202020204" pitchFamily="34" charset="0"/>
            </a:rPr>
            <a:t>Output file: </a:t>
          </a:r>
          <a:r>
            <a:rPr lang="fr-FR" sz="1800" b="1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r>
            <a:rPr lang="fr-FR" sz="1800" b="1" kern="1200" dirty="0" err="1">
              <a:latin typeface="Arial" panose="020B0604020202020204" pitchFamily="34" charset="0"/>
              <a:cs typeface="Arial" panose="020B0604020202020204" pitchFamily="34" charset="0"/>
            </a:rPr>
            <a:t>gexf</a:t>
          </a:r>
          <a:r>
            <a:rPr lang="fr-FR" sz="1800" kern="1200" dirty="0">
              <a:latin typeface="Arial" panose="020B0604020202020204" pitchFamily="34" charset="0"/>
              <a:cs typeface="Arial" panose="020B0604020202020204" pitchFamily="34" charset="0"/>
            </a:rPr>
            <a:t> (</a:t>
          </a:r>
          <a:r>
            <a:rPr lang="fr-FR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Gephi</a:t>
          </a:r>
          <a:r>
            <a:rPr lang="fr-FR" sz="1800" kern="1200" dirty="0">
              <a:latin typeface="Arial" panose="020B0604020202020204" pitchFamily="34" charset="0"/>
              <a:cs typeface="Arial" panose="020B0604020202020204" pitchFamily="34" charset="0"/>
            </a:rPr>
            <a:t>-compatible format)</a:t>
          </a:r>
        </a:p>
      </dsp:txBody>
      <dsp:txXfrm>
        <a:off x="8546487" y="91788"/>
        <a:ext cx="1900242" cy="41677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EA95D6-3451-454F-B69B-A9B6178CB213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9769A7-F5D7-4A19-9197-BD7E686170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2939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b759b06853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9" name="Google Shape;399;g2b759b06853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731867-3824-775E-289A-992B8AF3F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F8F3659-6A95-73BA-E584-D90B497D60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1A95A8-0C9D-EBB5-5BEC-51E90A0A0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AA2ED-8F02-4362-9B03-0BD7BFDC324F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4CB4DC-B87B-821B-11C6-9D98677D1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5EA20C-55BE-E112-E55D-5FFEFA09D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93004-8B9E-486D-8AE4-118DEEE718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5653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2967DA-303D-7B82-9D2B-F34DCC5F6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562CBC-BC3F-B4B6-044B-090E03A1F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270329-76E2-FAA3-7904-593D73423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AA2ED-8F02-4362-9B03-0BD7BFDC324F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30F9D0-4EFB-E289-566C-81F8EB28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4A618B-AC0B-0B2E-65D7-33D5916EE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93004-8B9E-486D-8AE4-118DEEE718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3627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95251B-534E-5EEE-3FF7-AE9E24DCD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103C4C2-B4C3-68E1-FE61-A7359D229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875154-5336-796C-C0F0-27479518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AA2ED-8F02-4362-9B03-0BD7BFDC324F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62932B-DEDB-B0D5-88F7-0B42C9A60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02099B-3AA4-1481-1E19-1E88390DD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93004-8B9E-486D-8AE4-118DEEE718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4703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80FC12-6D37-FF75-B60A-8D848C807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558B93-AA73-AF30-6F09-DB44DB8758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FC70AA9-104D-1A1B-81F8-D65C427A3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5E8EEDD-18B9-17CF-69A0-EF7905C53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AA2ED-8F02-4362-9B03-0BD7BFDC324F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E10E168-1FA7-D161-D8F4-A8FC0FC78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2543CB-CF4D-4A5D-7AE0-C9A27DD77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93004-8B9E-486D-8AE4-118DEEE718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2425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D7FD9E-6F11-7EC1-2FB2-51B730E36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F951F8-FBFB-5DD3-4057-CB2625D1C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64F3BC6-6BA3-A1C9-0B3A-12C6BE930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5676202-374B-3055-8604-85AA674BC6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512B04D-B893-06FA-0720-CF50A95419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C4DE801-1334-FE2B-40CC-7643C7607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AA2ED-8F02-4362-9B03-0BD7BFDC324F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2F5E38A-DE2E-028F-D43E-D9CF70E44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2AE48B5-692C-4208-E86F-ED07F66F3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93004-8B9E-486D-8AE4-118DEEE718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3539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F04B60-F488-166E-D896-5E431FA2A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87BCE06-B2D6-889A-15F7-F2C7C60A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AA2ED-8F02-4362-9B03-0BD7BFDC324F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42DDBB8-DDFF-3EE1-3A91-3ECF8008A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01190B6-F83A-C021-5F15-C90454181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93004-8B9E-486D-8AE4-118DEEE718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535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10178EF-C4C4-FC8E-1C24-B4AB67524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AA2ED-8F02-4362-9B03-0BD7BFDC324F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3D68776-40D7-31CC-E036-AC262D5FD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EC443AC-B640-BB8E-4FFE-FA865335C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93004-8B9E-486D-8AE4-118DEEE718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061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D357C6-8704-128E-B4EB-E24014FED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3174F0-232B-5AED-8E41-38381AD87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64BD8EB-49C4-9794-7A04-9ABC4C10B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9C3A366-694C-6218-B2B5-F16741EEC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AA2ED-8F02-4362-9B03-0BD7BFDC324F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29E03B7-136D-0F99-971D-4BA86DB8A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D715597-E502-D29D-A133-0AFF46599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93004-8B9E-486D-8AE4-118DEEE718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4178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879F3A-3621-B58E-4340-510A86BEB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8BA67DB-575F-BE4E-B21E-4B03887345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8A13AE5-4843-3059-096E-EABB34295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13AD699-236F-49F5-B62F-00D1F82BC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AA2ED-8F02-4362-9B03-0BD7BFDC324F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ECACCB-E1C3-1A9C-14DF-135F4D542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94EC276-6D62-3094-ECF2-8857F0E6A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93004-8B9E-486D-8AE4-118DEEE718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3582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7E57E2-7378-2F81-15A4-D8A00F963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7659A89-1C52-1791-DACD-8EF96EF77C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59E24C-06AD-63B1-EBB2-8B58A48C8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AA2ED-8F02-4362-9B03-0BD7BFDC324F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3B97BC-C14D-456C-1D7C-2CA6A9AD7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EC2C8F-B3E9-6AF7-B244-F7451B7C5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93004-8B9E-486D-8AE4-118DEEE718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4110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1A02A51-00DB-EC6B-33E9-5704DFDA2C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CC94221-B8C7-0B42-E1AB-3501B80DC9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589D884-D0B9-7C33-FC51-7D61CC2EA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AA2ED-8F02-4362-9B03-0BD7BFDC324F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CF4F9B-5CA6-8F2D-D39A-F57B4E9E0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70C23C-AFEC-C5E9-DCC7-8B959FC83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93004-8B9E-486D-8AE4-118DEEE718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42992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sezione" type="secHead">
  <p:cSld name="Intestazione sezion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D86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body" idx="1"/>
          </p:nvPr>
        </p:nvSpPr>
        <p:spPr>
          <a:xfrm>
            <a:off x="831850" y="4674550"/>
            <a:ext cx="10515600" cy="14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2000"/>
              <a:buNone/>
              <a:defRPr sz="2000">
                <a:solidFill>
                  <a:srgbClr val="898989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1800"/>
              <a:buNone/>
              <a:defRPr sz="1800">
                <a:solidFill>
                  <a:srgbClr val="898989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1600"/>
              <a:buNone/>
              <a:defRPr sz="1600">
                <a:solidFill>
                  <a:srgbClr val="898989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1600"/>
              <a:buNone/>
              <a:defRPr sz="1600">
                <a:solidFill>
                  <a:srgbClr val="898989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1600"/>
              <a:buNone/>
              <a:defRPr sz="1600">
                <a:solidFill>
                  <a:srgbClr val="898989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1600"/>
              <a:buNone/>
              <a:defRPr sz="1600">
                <a:solidFill>
                  <a:srgbClr val="898989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1600"/>
              <a:buNone/>
              <a:defRPr sz="1600">
                <a:solidFill>
                  <a:srgbClr val="898989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1600"/>
              <a:buNone/>
              <a:defRPr sz="1600">
                <a:solidFill>
                  <a:srgbClr val="898989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tx2">
                    <a:lumMod val="25000"/>
                  </a:schemeClr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64454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751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jpg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6EB1228-A0B5-822A-8E83-926E70527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BAAF43C-F241-70D4-25B6-D492A6878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3CA6D3-E706-C27B-CEE7-230FCA0733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6AA2ED-8F02-4362-9B03-0BD7BFDC324F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5F90CEA-6578-E202-C03B-5FB4425EEC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FA2827-09DC-045E-C106-894C83F3BE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E93004-8B9E-486D-8AE4-118DEEE718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9041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747126" y="1511049"/>
            <a:ext cx="10697748" cy="81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D86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003D8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747126" y="2509330"/>
            <a:ext cx="10697748" cy="3667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9812" y="6331862"/>
            <a:ext cx="11527536" cy="43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79468" y="43200"/>
            <a:ext cx="1233065" cy="123306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1"/>
          <p:cNvSpPr txBox="1"/>
          <p:nvPr/>
        </p:nvSpPr>
        <p:spPr>
          <a:xfrm>
            <a:off x="9719614" y="408008"/>
            <a:ext cx="20478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003D86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www.ai4trust.eu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8838" y="408008"/>
            <a:ext cx="536575" cy="33083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1"/>
          <p:cNvSpPr txBox="1"/>
          <p:nvPr/>
        </p:nvSpPr>
        <p:spPr>
          <a:xfrm>
            <a:off x="1069388" y="418634"/>
            <a:ext cx="2618628" cy="320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Funded by the European Union</a:t>
            </a:r>
            <a:r>
              <a:rPr lang="en-GB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7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Horizon Europe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(HORIZON-CL4-2021-HUMAN-01-27 AI to fight disinformation)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1300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1300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1300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1300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1300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1300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1300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1300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771680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F7554E-F959-CB7A-A228-235F856348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99111"/>
            <a:ext cx="9144000" cy="2387600"/>
          </a:xfrm>
        </p:spPr>
        <p:txBody>
          <a:bodyPr/>
          <a:lstStyle/>
          <a:p>
            <a:r>
              <a:rPr lang="en-US" dirty="0"/>
              <a:t>Telegram Social Network Visualization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4B6D45-CA44-7B55-4113-2A16F695C1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1297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b759b06853_0_14"/>
          <p:cNvSpPr/>
          <p:nvPr/>
        </p:nvSpPr>
        <p:spPr>
          <a:xfrm>
            <a:off x="524500" y="971034"/>
            <a:ext cx="900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Overview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2b759b06853_0_14"/>
          <p:cNvSpPr txBox="1"/>
          <p:nvPr/>
        </p:nvSpPr>
        <p:spPr>
          <a:xfrm>
            <a:off x="950650" y="1520625"/>
            <a:ext cx="1035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396;g32913e9c632_0_102">
            <a:extLst>
              <a:ext uri="{FF2B5EF4-FFF2-40B4-BE49-F238E27FC236}">
                <a16:creationId xmlns:a16="http://schemas.microsoft.com/office/drawing/2014/main" id="{99F2D762-B5AB-A5CA-DDEA-83E40F77A545}"/>
              </a:ext>
            </a:extLst>
          </p:cNvPr>
          <p:cNvSpPr/>
          <p:nvPr/>
        </p:nvSpPr>
        <p:spPr>
          <a:xfrm>
            <a:off x="524500" y="1520625"/>
            <a:ext cx="11208900" cy="462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/>
              <a:t>Purpose</a:t>
            </a:r>
          </a:p>
          <a:p>
            <a:r>
              <a:rPr lang="en-US" sz="1600" dirty="0"/>
              <a:t>To map and explore how information circulates across Telegram channels through message forwarding activity</a:t>
            </a:r>
          </a:p>
          <a:p>
            <a:endParaRPr lang="en-US" sz="1600" dirty="0"/>
          </a:p>
          <a:p>
            <a:r>
              <a:rPr lang="en-US" sz="1600" b="1" dirty="0"/>
              <a:t>How it works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/>
              <a:t>Uses preprocessed Telegram messages</a:t>
            </a:r>
            <a:br>
              <a:rPr lang="en-US" sz="1600" dirty="0"/>
            </a:br>
            <a:r>
              <a:rPr lang="en-US" sz="1600" dirty="0"/>
              <a:t>→ Uses curated message data filtered to include only relevant channels (e.g., those with Latin titles).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/>
              <a:t>Build the forwarding network</a:t>
            </a:r>
            <a:br>
              <a:rPr lang="en-US" sz="1600" dirty="0"/>
            </a:br>
            <a:r>
              <a:rPr lang="en-US" sz="1600" dirty="0"/>
              <a:t>→ Constructs a network where </a:t>
            </a:r>
            <a:r>
              <a:rPr lang="en-US" sz="1600" b="1" dirty="0"/>
              <a:t>nodes</a:t>
            </a:r>
            <a:r>
              <a:rPr lang="en-US" sz="1600" dirty="0"/>
              <a:t> represent Telegram channels and </a:t>
            </a:r>
            <a:r>
              <a:rPr lang="en-US" sz="1600" b="1" dirty="0"/>
              <a:t>edges</a:t>
            </a:r>
            <a:r>
              <a:rPr lang="en-US" sz="1600" dirty="0"/>
              <a:t> represent message forwarding relationships between them.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/>
              <a:t>Detect channel communities</a:t>
            </a:r>
            <a:br>
              <a:rPr lang="en-US" sz="1600" dirty="0"/>
            </a:br>
            <a:r>
              <a:rPr lang="en-US" sz="1600" dirty="0"/>
              <a:t>→ Identifies </a:t>
            </a:r>
            <a:r>
              <a:rPr lang="en-US" sz="1600" b="1" dirty="0"/>
              <a:t>clusters of interconnected channels</a:t>
            </a:r>
            <a:r>
              <a:rPr lang="en-US" sz="1600" dirty="0"/>
              <a:t> using community detection based on modularity optimization, revealing groups that share or amplify similar content.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/>
              <a:t>Prepare for interactive visualizations</a:t>
            </a:r>
            <a:br>
              <a:rPr lang="en-US" sz="1600" dirty="0"/>
            </a:br>
            <a:r>
              <a:rPr lang="en-US" sz="1600" dirty="0"/>
              <a:t>→ Exports the resulting network to a </a:t>
            </a:r>
            <a:r>
              <a:rPr lang="en-US" sz="1600" b="1" dirty="0"/>
              <a:t>Gephi-compatible format (.</a:t>
            </a:r>
            <a:r>
              <a:rPr lang="en-US" sz="1600" b="1" dirty="0" err="1"/>
              <a:t>gexf</a:t>
            </a:r>
            <a:r>
              <a:rPr lang="en-US" sz="1600" b="1" dirty="0"/>
              <a:t>)</a:t>
            </a:r>
            <a:r>
              <a:rPr lang="en-US" sz="1600" dirty="0"/>
              <a:t> for visual analysis and interpretation.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r>
              <a:rPr lang="en-US" sz="1600" b="1" dirty="0"/>
              <a:t>Outcome</a:t>
            </a:r>
          </a:p>
          <a:p>
            <a:r>
              <a:rPr lang="en-US" sz="1600" dirty="0"/>
              <a:t>A </a:t>
            </a:r>
            <a:r>
              <a:rPr lang="en-US" sz="1600" b="1" dirty="0"/>
              <a:t>map of Telegram’s information ecosystem</a:t>
            </a:r>
            <a:r>
              <a:rPr lang="en-US" sz="1600" dirty="0"/>
              <a:t>, showing how channels are connected and which clusters drive the spread of content.</a:t>
            </a:r>
          </a:p>
          <a:p>
            <a:endParaRPr lang="en-US" sz="1600" dirty="0"/>
          </a:p>
          <a:p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DA13EA-C0D9-4D86-DC7D-9AAB66D45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1" y="681037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Pipeline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7B304AED-3509-97D0-A655-9044B77835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849777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810140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KID_ACTIONS">
      <a:dk1>
        <a:srgbClr val="181818"/>
      </a:dk1>
      <a:lt1>
        <a:srgbClr val="FFFFFF"/>
      </a:lt1>
      <a:dk2>
        <a:srgbClr val="3B527B"/>
      </a:dk2>
      <a:lt2>
        <a:srgbClr val="CBD6EB"/>
      </a:lt2>
      <a:accent1>
        <a:srgbClr val="5B7FBF"/>
      </a:accent1>
      <a:accent2>
        <a:srgbClr val="ADBFDF"/>
      </a:accent2>
      <a:accent3>
        <a:srgbClr val="B66513"/>
      </a:accent3>
      <a:accent4>
        <a:srgbClr val="F0800E"/>
      </a:accent4>
      <a:accent5>
        <a:srgbClr val="F8C087"/>
      </a:accent5>
      <a:accent6>
        <a:srgbClr val="FFEB61"/>
      </a:accent6>
      <a:hlink>
        <a:srgbClr val="F0800E"/>
      </a:hlink>
      <a:folHlink>
        <a:srgbClr val="ADBFD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591BBC0-DD47-40F0-834B-A09A40433E7D}">
  <we:reference id="wa200005566" version="3.0.0.3" store="fr-FR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208</Words>
  <Application>Microsoft Office PowerPoint</Application>
  <PresentationFormat>Grand écran</PresentationFormat>
  <Paragraphs>26</Paragraphs>
  <Slides>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3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Nunito Sans</vt:lpstr>
      <vt:lpstr>Nunito Sans Black</vt:lpstr>
      <vt:lpstr>Thème Office</vt:lpstr>
      <vt:lpstr>Custom Design</vt:lpstr>
      <vt:lpstr>Telegram Social Network Visualization</vt:lpstr>
      <vt:lpstr>Présentation PowerPoint</vt:lpstr>
      <vt:lpstr>Pipeline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Yasmine HOURI</dc:creator>
  <cp:lastModifiedBy>Yasmine HOURI</cp:lastModifiedBy>
  <cp:revision>13</cp:revision>
  <dcterms:created xsi:type="dcterms:W3CDTF">2025-10-16T10:15:55Z</dcterms:created>
  <dcterms:modified xsi:type="dcterms:W3CDTF">2025-10-16T12:30:38Z</dcterms:modified>
</cp:coreProperties>
</file>