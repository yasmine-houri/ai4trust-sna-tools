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5" r:id="rId2"/>
    <p:sldId id="287" r:id="rId3"/>
    <p:sldId id="28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6C62A0-0988-4205-A863-1D7243C6A8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725F589-0E0A-407E-BDA2-33FC5CD8BDB0}">
      <dgm:prSet custT="1"/>
      <dgm:spPr/>
      <dgm:t>
        <a:bodyPr/>
        <a:lstStyle/>
        <a:p>
          <a:pPr>
            <a:buNone/>
          </a:pPr>
          <a:r>
            <a:rPr lang="en-US" sz="1800" b="1" dirty="0"/>
            <a:t>Disinformation detection</a:t>
          </a:r>
        </a:p>
        <a:p>
          <a:pPr>
            <a:buNone/>
          </a:pPr>
          <a:br>
            <a:rPr lang="en-US" sz="1800" dirty="0"/>
          </a:br>
          <a:r>
            <a:rPr lang="en-US" sz="1800" b="1" dirty="0"/>
            <a:t>Input:</a:t>
          </a:r>
          <a:r>
            <a:rPr lang="en-US" sz="1800" dirty="0"/>
            <a:t> Telegram messages</a:t>
          </a:r>
        </a:p>
        <a:p>
          <a:pPr>
            <a:buNone/>
          </a:pPr>
          <a:r>
            <a:rPr lang="en-US" sz="1800" dirty="0"/>
            <a:t>Apply </a:t>
          </a:r>
          <a:r>
            <a:rPr lang="en-US" sz="1800" b="1" dirty="0"/>
            <a:t>disinformation detection model</a:t>
          </a:r>
          <a:r>
            <a:rPr lang="en-US" sz="1800" dirty="0"/>
            <a:t> to flag likely unreliable content.</a:t>
          </a:r>
        </a:p>
      </dgm:t>
    </dgm:pt>
    <dgm:pt modelId="{FD48C26B-BB76-4D4F-BA23-8F7DE8CE23FF}" type="parTrans" cxnId="{7AE2D76B-5D3C-42B2-BFC7-133345EB8019}">
      <dgm:prSet/>
      <dgm:spPr/>
      <dgm:t>
        <a:bodyPr/>
        <a:lstStyle/>
        <a:p>
          <a:endParaRPr lang="fr-FR"/>
        </a:p>
      </dgm:t>
    </dgm:pt>
    <dgm:pt modelId="{F0B71CC2-B643-43BF-80FA-A5E752F17980}" type="sibTrans" cxnId="{7AE2D76B-5D3C-42B2-BFC7-133345EB8019}">
      <dgm:prSet/>
      <dgm:spPr/>
      <dgm:t>
        <a:bodyPr/>
        <a:lstStyle/>
        <a:p>
          <a:endParaRPr lang="fr-FR"/>
        </a:p>
      </dgm:t>
    </dgm:pt>
    <dgm:pt modelId="{08CB021C-BD3A-452F-9BD5-B2440CEF5A0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dirty="0"/>
            <a:t>Aggregate scores by channel</a:t>
          </a:r>
        </a:p>
        <a:p>
          <a:pPr>
            <a:buFont typeface="Arial" panose="020B0604020202020204" pitchFamily="34" charset="0"/>
            <a:buChar char="•"/>
          </a:pPr>
          <a:br>
            <a:rPr lang="en-US" sz="1800" dirty="0"/>
          </a:br>
          <a:r>
            <a:rPr lang="en-US" sz="1800" b="1" dirty="0"/>
            <a:t>Compute channel-level scores</a:t>
          </a:r>
          <a:endParaRPr lang="en-US" sz="1800" dirty="0"/>
        </a:p>
        <a:p>
          <a:pPr>
            <a:buFont typeface="Arial" panose="020B0604020202020204" pitchFamily="34" charset="0"/>
            <a:buChar char="•"/>
          </a:pPr>
          <a:r>
            <a:rPr lang="en-US" sz="1800" dirty="0"/>
            <a:t>Average disinformation signals across each channel.</a:t>
          </a:r>
          <a:br>
            <a:rPr lang="en-US" sz="1800" dirty="0"/>
          </a:br>
          <a:endParaRPr lang="en-US" sz="1800" dirty="0"/>
        </a:p>
      </dgm:t>
    </dgm:pt>
    <dgm:pt modelId="{F5F0507F-2D06-40ED-850A-24ED78BA5FD5}" type="parTrans" cxnId="{97D0A208-86A7-4A72-9169-E34FBFE0FF36}">
      <dgm:prSet/>
      <dgm:spPr/>
      <dgm:t>
        <a:bodyPr/>
        <a:lstStyle/>
        <a:p>
          <a:endParaRPr lang="fr-FR"/>
        </a:p>
      </dgm:t>
    </dgm:pt>
    <dgm:pt modelId="{D057E7E6-BC55-4805-AC19-23D1977004EA}" type="sibTrans" cxnId="{97D0A208-86A7-4A72-9169-E34FBFE0FF36}">
      <dgm:prSet/>
      <dgm:spPr/>
      <dgm:t>
        <a:bodyPr/>
        <a:lstStyle/>
        <a:p>
          <a:endParaRPr lang="fr-FR"/>
        </a:p>
      </dgm:t>
    </dgm:pt>
    <dgm:pt modelId="{A3D6166E-EABC-4E4B-82F9-A432CAD68A0B}">
      <dgm:prSet custT="1"/>
      <dgm:spPr/>
      <dgm:t>
        <a:bodyPr/>
        <a:lstStyle/>
        <a:p>
          <a:pPr>
            <a:buNone/>
          </a:pPr>
          <a:r>
            <a:rPr lang="en-US" sz="1800" b="1" dirty="0"/>
            <a:t>Integrate with network</a:t>
          </a:r>
        </a:p>
        <a:p>
          <a:pPr>
            <a:buNone/>
          </a:pPr>
          <a:br>
            <a:rPr lang="en-US" sz="1800" dirty="0"/>
          </a:br>
          <a:r>
            <a:rPr lang="en-US" sz="1800" b="1" dirty="0"/>
            <a:t>Merge scores into Telegram network</a:t>
          </a:r>
        </a:p>
        <a:p>
          <a:pPr>
            <a:buNone/>
          </a:pPr>
          <a:r>
            <a:rPr lang="en-US" sz="1800" dirty="0"/>
            <a:t>Add each channel’s score as a </a:t>
          </a:r>
          <a:r>
            <a:rPr lang="en-US" sz="1800" b="1" dirty="0"/>
            <a:t>node attribute</a:t>
          </a:r>
          <a:r>
            <a:rPr lang="en-US" sz="1800" dirty="0"/>
            <a:t> in the network (from the Visualization Tool).</a:t>
          </a:r>
          <a:br>
            <a:rPr lang="en-US" sz="1800" dirty="0"/>
          </a:br>
          <a:endParaRPr lang="en-US" sz="1800" dirty="0"/>
        </a:p>
      </dgm:t>
    </dgm:pt>
    <dgm:pt modelId="{172074C9-2395-4D1C-8B2A-47A6A61D8A3B}" type="parTrans" cxnId="{28D91F8F-A698-452D-BC0A-51A9BABC003C}">
      <dgm:prSet/>
      <dgm:spPr/>
      <dgm:t>
        <a:bodyPr/>
        <a:lstStyle/>
        <a:p>
          <a:endParaRPr lang="fr-FR"/>
        </a:p>
      </dgm:t>
    </dgm:pt>
    <dgm:pt modelId="{11A02DEE-7F7B-4066-845B-F7DCCE747FF2}" type="sibTrans" cxnId="{28D91F8F-A698-452D-BC0A-51A9BABC003C}">
      <dgm:prSet/>
      <dgm:spPr/>
      <dgm:t>
        <a:bodyPr/>
        <a:lstStyle/>
        <a:p>
          <a:endParaRPr lang="fr-FR"/>
        </a:p>
      </dgm:t>
    </dgm:pt>
    <dgm:pt modelId="{1574AB4C-BB7F-4D7B-BB21-E6CCD6E201EB}">
      <dgm:prSet custT="1"/>
      <dgm:spPr/>
      <dgm:t>
        <a:bodyPr/>
        <a:lstStyle/>
        <a:p>
          <a:pPr>
            <a:buNone/>
          </a:pPr>
          <a:r>
            <a:rPr lang="en-US" sz="1800" b="1" dirty="0"/>
            <a:t>Identify unreliable channels</a:t>
          </a:r>
        </a:p>
        <a:p>
          <a:pPr>
            <a:buNone/>
          </a:pPr>
          <a:br>
            <a:rPr lang="en-US" sz="1800" dirty="0"/>
          </a:br>
          <a:r>
            <a:rPr lang="en-US" sz="1800" b="1" dirty="0"/>
            <a:t>Highlight high-risk areas</a:t>
          </a:r>
        </a:p>
        <a:p>
          <a:pPr>
            <a:buNone/>
          </a:pPr>
          <a:r>
            <a:rPr lang="en-US" sz="1800" b="1" dirty="0" err="1"/>
            <a:t>disinfo_channels</a:t>
          </a:r>
          <a:r>
            <a:rPr lang="en-US" sz="1800" dirty="0"/>
            <a:t>: channels with high scores</a:t>
          </a:r>
        </a:p>
        <a:p>
          <a:pPr>
            <a:buNone/>
          </a:pPr>
          <a:r>
            <a:rPr lang="en-US" sz="1800" b="1" dirty="0" err="1"/>
            <a:t>neighbor_disinfo_channels</a:t>
          </a:r>
          <a:r>
            <a:rPr lang="en-US" sz="1800" dirty="0"/>
            <a:t>: channels connected to high-score channels</a:t>
          </a:r>
        </a:p>
      </dgm:t>
    </dgm:pt>
    <dgm:pt modelId="{C65A2A8A-020E-4D88-AD82-CF840F2E6B10}" type="parTrans" cxnId="{9CCF97F9-53A2-44AD-90E2-12A4DA85039E}">
      <dgm:prSet/>
      <dgm:spPr/>
      <dgm:t>
        <a:bodyPr/>
        <a:lstStyle/>
        <a:p>
          <a:endParaRPr lang="fr-FR"/>
        </a:p>
      </dgm:t>
    </dgm:pt>
    <dgm:pt modelId="{0C27A1CC-1CD8-4F3F-B8D2-797716B3BF76}" type="sibTrans" cxnId="{9CCF97F9-53A2-44AD-90E2-12A4DA85039E}">
      <dgm:prSet/>
      <dgm:spPr/>
      <dgm:t>
        <a:bodyPr/>
        <a:lstStyle/>
        <a:p>
          <a:endParaRPr lang="fr-FR"/>
        </a:p>
      </dgm:t>
    </dgm:pt>
    <dgm:pt modelId="{C7E2D220-D820-4C91-91F9-E13A43E15996}" type="pres">
      <dgm:prSet presAssocID="{876C62A0-0988-4205-A863-1D7243C6A8B6}" presName="Name0" presStyleCnt="0">
        <dgm:presLayoutVars>
          <dgm:dir/>
          <dgm:resizeHandles val="exact"/>
        </dgm:presLayoutVars>
      </dgm:prSet>
      <dgm:spPr/>
    </dgm:pt>
    <dgm:pt modelId="{E3A6CE47-36E4-4ED1-A3A2-572832DDE0B6}" type="pres">
      <dgm:prSet presAssocID="{2725F589-0E0A-407E-BDA2-33FC5CD8BDB0}" presName="node" presStyleLbl="node1" presStyleIdx="0" presStyleCnt="4" custScaleY="185408">
        <dgm:presLayoutVars>
          <dgm:bulletEnabled val="1"/>
        </dgm:presLayoutVars>
      </dgm:prSet>
      <dgm:spPr/>
    </dgm:pt>
    <dgm:pt modelId="{73C83374-46BD-47D6-B52A-926EAEA3CBBE}" type="pres">
      <dgm:prSet presAssocID="{F0B71CC2-B643-43BF-80FA-A5E752F17980}" presName="sibTrans" presStyleLbl="sibTrans2D1" presStyleIdx="0" presStyleCnt="3"/>
      <dgm:spPr/>
    </dgm:pt>
    <dgm:pt modelId="{EACA0EA6-610A-444A-B926-0DEEDC623484}" type="pres">
      <dgm:prSet presAssocID="{F0B71CC2-B643-43BF-80FA-A5E752F17980}" presName="connectorText" presStyleLbl="sibTrans2D1" presStyleIdx="0" presStyleCnt="3"/>
      <dgm:spPr/>
    </dgm:pt>
    <dgm:pt modelId="{152A1E7A-899A-4A36-AAE6-5737CB00A63A}" type="pres">
      <dgm:prSet presAssocID="{08CB021C-BD3A-452F-9BD5-B2440CEF5A01}" presName="node" presStyleLbl="node1" presStyleIdx="1" presStyleCnt="4" custScaleY="185408">
        <dgm:presLayoutVars>
          <dgm:bulletEnabled val="1"/>
        </dgm:presLayoutVars>
      </dgm:prSet>
      <dgm:spPr/>
    </dgm:pt>
    <dgm:pt modelId="{FF132DCF-57F4-4584-BB3C-A2BF1A4DAEB6}" type="pres">
      <dgm:prSet presAssocID="{D057E7E6-BC55-4805-AC19-23D1977004EA}" presName="sibTrans" presStyleLbl="sibTrans2D1" presStyleIdx="1" presStyleCnt="3"/>
      <dgm:spPr/>
    </dgm:pt>
    <dgm:pt modelId="{0F5AF64E-1DF6-4783-9E72-D56848284F10}" type="pres">
      <dgm:prSet presAssocID="{D057E7E6-BC55-4805-AC19-23D1977004EA}" presName="connectorText" presStyleLbl="sibTrans2D1" presStyleIdx="1" presStyleCnt="3"/>
      <dgm:spPr/>
    </dgm:pt>
    <dgm:pt modelId="{B048FA63-C355-42BC-B222-3698BD594C2F}" type="pres">
      <dgm:prSet presAssocID="{A3D6166E-EABC-4E4B-82F9-A432CAD68A0B}" presName="node" presStyleLbl="node1" presStyleIdx="2" presStyleCnt="4" custScaleY="185408">
        <dgm:presLayoutVars>
          <dgm:bulletEnabled val="1"/>
        </dgm:presLayoutVars>
      </dgm:prSet>
      <dgm:spPr/>
    </dgm:pt>
    <dgm:pt modelId="{FC95DB6A-A4A2-4EB3-B85B-36153982A442}" type="pres">
      <dgm:prSet presAssocID="{11A02DEE-7F7B-4066-845B-F7DCCE747FF2}" presName="sibTrans" presStyleLbl="sibTrans2D1" presStyleIdx="2" presStyleCnt="3"/>
      <dgm:spPr/>
    </dgm:pt>
    <dgm:pt modelId="{2CD50FE3-29A7-4386-B047-86E1E4D944A3}" type="pres">
      <dgm:prSet presAssocID="{11A02DEE-7F7B-4066-845B-F7DCCE747FF2}" presName="connectorText" presStyleLbl="sibTrans2D1" presStyleIdx="2" presStyleCnt="3"/>
      <dgm:spPr/>
    </dgm:pt>
    <dgm:pt modelId="{089C68C9-2F14-4D66-8C45-09C7FA996663}" type="pres">
      <dgm:prSet presAssocID="{1574AB4C-BB7F-4D7B-BB21-E6CCD6E201EB}" presName="node" presStyleLbl="node1" presStyleIdx="3" presStyleCnt="4" custScaleY="185408">
        <dgm:presLayoutVars>
          <dgm:bulletEnabled val="1"/>
        </dgm:presLayoutVars>
      </dgm:prSet>
      <dgm:spPr/>
    </dgm:pt>
  </dgm:ptLst>
  <dgm:cxnLst>
    <dgm:cxn modelId="{97D0A208-86A7-4A72-9169-E34FBFE0FF36}" srcId="{876C62A0-0988-4205-A863-1D7243C6A8B6}" destId="{08CB021C-BD3A-452F-9BD5-B2440CEF5A01}" srcOrd="1" destOrd="0" parTransId="{F5F0507F-2D06-40ED-850A-24ED78BA5FD5}" sibTransId="{D057E7E6-BC55-4805-AC19-23D1977004EA}"/>
    <dgm:cxn modelId="{DC7DC236-3FFE-4A1E-8728-F881951B7202}" type="presOf" srcId="{08CB021C-BD3A-452F-9BD5-B2440CEF5A01}" destId="{152A1E7A-899A-4A36-AAE6-5737CB00A63A}" srcOrd="0" destOrd="0" presId="urn:microsoft.com/office/officeart/2005/8/layout/process1"/>
    <dgm:cxn modelId="{7AE2D76B-5D3C-42B2-BFC7-133345EB8019}" srcId="{876C62A0-0988-4205-A863-1D7243C6A8B6}" destId="{2725F589-0E0A-407E-BDA2-33FC5CD8BDB0}" srcOrd="0" destOrd="0" parTransId="{FD48C26B-BB76-4D4F-BA23-8F7DE8CE23FF}" sibTransId="{F0B71CC2-B643-43BF-80FA-A5E752F17980}"/>
    <dgm:cxn modelId="{E6988681-3445-49E5-AE5F-1AA1D39AD5F9}" type="presOf" srcId="{D057E7E6-BC55-4805-AC19-23D1977004EA}" destId="{0F5AF64E-1DF6-4783-9E72-D56848284F10}" srcOrd="1" destOrd="0" presId="urn:microsoft.com/office/officeart/2005/8/layout/process1"/>
    <dgm:cxn modelId="{B70B008C-C29F-4079-B717-E769A1669747}" type="presOf" srcId="{11A02DEE-7F7B-4066-845B-F7DCCE747FF2}" destId="{2CD50FE3-29A7-4386-B047-86E1E4D944A3}" srcOrd="1" destOrd="0" presId="urn:microsoft.com/office/officeart/2005/8/layout/process1"/>
    <dgm:cxn modelId="{28D91F8F-A698-452D-BC0A-51A9BABC003C}" srcId="{876C62A0-0988-4205-A863-1D7243C6A8B6}" destId="{A3D6166E-EABC-4E4B-82F9-A432CAD68A0B}" srcOrd="2" destOrd="0" parTransId="{172074C9-2395-4D1C-8B2A-47A6A61D8A3B}" sibTransId="{11A02DEE-7F7B-4066-845B-F7DCCE747FF2}"/>
    <dgm:cxn modelId="{0D6292AD-5C6E-4AE0-BC50-005510DB2B37}" type="presOf" srcId="{A3D6166E-EABC-4E4B-82F9-A432CAD68A0B}" destId="{B048FA63-C355-42BC-B222-3698BD594C2F}" srcOrd="0" destOrd="0" presId="urn:microsoft.com/office/officeart/2005/8/layout/process1"/>
    <dgm:cxn modelId="{C8DCEAB4-CDE0-46A6-812B-EA8EC59B717F}" type="presOf" srcId="{F0B71CC2-B643-43BF-80FA-A5E752F17980}" destId="{EACA0EA6-610A-444A-B926-0DEEDC623484}" srcOrd="1" destOrd="0" presId="urn:microsoft.com/office/officeart/2005/8/layout/process1"/>
    <dgm:cxn modelId="{66AE5AB8-BDBD-438F-B9C0-EF86F078526C}" type="presOf" srcId="{11A02DEE-7F7B-4066-845B-F7DCCE747FF2}" destId="{FC95DB6A-A4A2-4EB3-B85B-36153982A442}" srcOrd="0" destOrd="0" presId="urn:microsoft.com/office/officeart/2005/8/layout/process1"/>
    <dgm:cxn modelId="{A07BFAC6-71E1-42CD-B0DD-A7E63FA7052E}" type="presOf" srcId="{876C62A0-0988-4205-A863-1D7243C6A8B6}" destId="{C7E2D220-D820-4C91-91F9-E13A43E15996}" srcOrd="0" destOrd="0" presId="urn:microsoft.com/office/officeart/2005/8/layout/process1"/>
    <dgm:cxn modelId="{736605CA-B5BC-4EAC-B26C-50DCDE85F839}" type="presOf" srcId="{F0B71CC2-B643-43BF-80FA-A5E752F17980}" destId="{73C83374-46BD-47D6-B52A-926EAEA3CBBE}" srcOrd="0" destOrd="0" presId="urn:microsoft.com/office/officeart/2005/8/layout/process1"/>
    <dgm:cxn modelId="{1BD1D6E5-E47B-40F3-AF37-2A6EA74CE497}" type="presOf" srcId="{D057E7E6-BC55-4805-AC19-23D1977004EA}" destId="{FF132DCF-57F4-4584-BB3C-A2BF1A4DAEB6}" srcOrd="0" destOrd="0" presId="urn:microsoft.com/office/officeart/2005/8/layout/process1"/>
    <dgm:cxn modelId="{960BFBF2-D822-44E4-A0E1-5AB1031BF07A}" type="presOf" srcId="{2725F589-0E0A-407E-BDA2-33FC5CD8BDB0}" destId="{E3A6CE47-36E4-4ED1-A3A2-572832DDE0B6}" srcOrd="0" destOrd="0" presId="urn:microsoft.com/office/officeart/2005/8/layout/process1"/>
    <dgm:cxn modelId="{9CCF97F9-53A2-44AD-90E2-12A4DA85039E}" srcId="{876C62A0-0988-4205-A863-1D7243C6A8B6}" destId="{1574AB4C-BB7F-4D7B-BB21-E6CCD6E201EB}" srcOrd="3" destOrd="0" parTransId="{C65A2A8A-020E-4D88-AD82-CF840F2E6B10}" sibTransId="{0C27A1CC-1CD8-4F3F-B8D2-797716B3BF76}"/>
    <dgm:cxn modelId="{A9ADDBFD-1A09-4612-B75D-91876A25B2DA}" type="presOf" srcId="{1574AB4C-BB7F-4D7B-BB21-E6CCD6E201EB}" destId="{089C68C9-2F14-4D66-8C45-09C7FA996663}" srcOrd="0" destOrd="0" presId="urn:microsoft.com/office/officeart/2005/8/layout/process1"/>
    <dgm:cxn modelId="{0A1A37DD-BAFD-4024-B469-9AD950E90A38}" type="presParOf" srcId="{C7E2D220-D820-4C91-91F9-E13A43E15996}" destId="{E3A6CE47-36E4-4ED1-A3A2-572832DDE0B6}" srcOrd="0" destOrd="0" presId="urn:microsoft.com/office/officeart/2005/8/layout/process1"/>
    <dgm:cxn modelId="{F230A91B-75A2-4A85-948E-37C662B2BC00}" type="presParOf" srcId="{C7E2D220-D820-4C91-91F9-E13A43E15996}" destId="{73C83374-46BD-47D6-B52A-926EAEA3CBBE}" srcOrd="1" destOrd="0" presId="urn:microsoft.com/office/officeart/2005/8/layout/process1"/>
    <dgm:cxn modelId="{2E043F49-3640-44BB-AF9D-93F688CBF8B8}" type="presParOf" srcId="{73C83374-46BD-47D6-B52A-926EAEA3CBBE}" destId="{EACA0EA6-610A-444A-B926-0DEEDC623484}" srcOrd="0" destOrd="0" presId="urn:microsoft.com/office/officeart/2005/8/layout/process1"/>
    <dgm:cxn modelId="{503945C1-FABF-4782-A1EF-13FE299038BC}" type="presParOf" srcId="{C7E2D220-D820-4C91-91F9-E13A43E15996}" destId="{152A1E7A-899A-4A36-AAE6-5737CB00A63A}" srcOrd="2" destOrd="0" presId="urn:microsoft.com/office/officeart/2005/8/layout/process1"/>
    <dgm:cxn modelId="{C776BBC6-6046-4D7C-8C82-138BEB3DF8DE}" type="presParOf" srcId="{C7E2D220-D820-4C91-91F9-E13A43E15996}" destId="{FF132DCF-57F4-4584-BB3C-A2BF1A4DAEB6}" srcOrd="3" destOrd="0" presId="urn:microsoft.com/office/officeart/2005/8/layout/process1"/>
    <dgm:cxn modelId="{49592694-FCEE-4DE4-A201-29C16D635301}" type="presParOf" srcId="{FF132DCF-57F4-4584-BB3C-A2BF1A4DAEB6}" destId="{0F5AF64E-1DF6-4783-9E72-D56848284F10}" srcOrd="0" destOrd="0" presId="urn:microsoft.com/office/officeart/2005/8/layout/process1"/>
    <dgm:cxn modelId="{4650BE5E-C16C-4765-B97C-3A1C58D66461}" type="presParOf" srcId="{C7E2D220-D820-4C91-91F9-E13A43E15996}" destId="{B048FA63-C355-42BC-B222-3698BD594C2F}" srcOrd="4" destOrd="0" presId="urn:microsoft.com/office/officeart/2005/8/layout/process1"/>
    <dgm:cxn modelId="{8F2707B4-1D74-4C5C-909E-C89514FA77D9}" type="presParOf" srcId="{C7E2D220-D820-4C91-91F9-E13A43E15996}" destId="{FC95DB6A-A4A2-4EB3-B85B-36153982A442}" srcOrd="5" destOrd="0" presId="urn:microsoft.com/office/officeart/2005/8/layout/process1"/>
    <dgm:cxn modelId="{B7E02003-8EC9-4A73-8500-558688AACC70}" type="presParOf" srcId="{FC95DB6A-A4A2-4EB3-B85B-36153982A442}" destId="{2CD50FE3-29A7-4386-B047-86E1E4D944A3}" srcOrd="0" destOrd="0" presId="urn:microsoft.com/office/officeart/2005/8/layout/process1"/>
    <dgm:cxn modelId="{21FA64AA-F97B-49DF-B1CE-FAE03BE8ADFE}" type="presParOf" srcId="{C7E2D220-D820-4C91-91F9-E13A43E15996}" destId="{089C68C9-2F14-4D66-8C45-09C7FA99666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6CE47-36E4-4ED1-A3A2-572832DDE0B6}">
      <dsp:nvSpPr>
        <dsp:cNvPr id="0" name=""/>
        <dsp:cNvSpPr/>
      </dsp:nvSpPr>
      <dsp:spPr>
        <a:xfrm>
          <a:off x="10463" y="0"/>
          <a:ext cx="2165983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Disinformation detection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800" b="1" kern="1200" dirty="0"/>
            <a:t>Input:</a:t>
          </a:r>
          <a:r>
            <a:rPr lang="en-US" sz="1800" kern="1200" dirty="0"/>
            <a:t> Telegram messages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Apply </a:t>
          </a:r>
          <a:r>
            <a:rPr lang="en-US" sz="1800" b="1" kern="1200" dirty="0"/>
            <a:t>disinformation detection model</a:t>
          </a:r>
          <a:r>
            <a:rPr lang="en-US" sz="1800" kern="1200" dirty="0"/>
            <a:t> to flag likely unreliable content.</a:t>
          </a:r>
        </a:p>
      </dsp:txBody>
      <dsp:txXfrm>
        <a:off x="73902" y="63439"/>
        <a:ext cx="2039105" cy="4307472"/>
      </dsp:txXfrm>
    </dsp:sp>
    <dsp:sp modelId="{73C83374-46BD-47D6-B52A-926EAEA3CBBE}">
      <dsp:nvSpPr>
        <dsp:cNvPr id="0" name=""/>
        <dsp:cNvSpPr/>
      </dsp:nvSpPr>
      <dsp:spPr>
        <a:xfrm>
          <a:off x="2393045" y="1948593"/>
          <a:ext cx="459188" cy="537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/>
        </a:p>
      </dsp:txBody>
      <dsp:txXfrm>
        <a:off x="2393045" y="2056026"/>
        <a:ext cx="321432" cy="322297"/>
      </dsp:txXfrm>
    </dsp:sp>
    <dsp:sp modelId="{152A1E7A-899A-4A36-AAE6-5737CB00A63A}">
      <dsp:nvSpPr>
        <dsp:cNvPr id="0" name=""/>
        <dsp:cNvSpPr/>
      </dsp:nvSpPr>
      <dsp:spPr>
        <a:xfrm>
          <a:off x="3042840" y="0"/>
          <a:ext cx="2165983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/>
            <a:t>Aggregate scores by channel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br>
            <a:rPr lang="en-US" sz="1800" kern="1200" dirty="0"/>
          </a:br>
          <a:r>
            <a:rPr lang="en-US" sz="1800" b="1" kern="1200" dirty="0"/>
            <a:t>Compute channel-level scores</a:t>
          </a: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Average disinformation signals across each channel.</a:t>
          </a:r>
          <a:br>
            <a:rPr lang="en-US" sz="1800" kern="1200" dirty="0"/>
          </a:br>
          <a:endParaRPr lang="en-US" sz="1800" kern="1200" dirty="0"/>
        </a:p>
      </dsp:txBody>
      <dsp:txXfrm>
        <a:off x="3106279" y="63439"/>
        <a:ext cx="2039105" cy="4307472"/>
      </dsp:txXfrm>
    </dsp:sp>
    <dsp:sp modelId="{FF132DCF-57F4-4584-BB3C-A2BF1A4DAEB6}">
      <dsp:nvSpPr>
        <dsp:cNvPr id="0" name=""/>
        <dsp:cNvSpPr/>
      </dsp:nvSpPr>
      <dsp:spPr>
        <a:xfrm>
          <a:off x="5425422" y="1948593"/>
          <a:ext cx="459188" cy="537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/>
        </a:p>
      </dsp:txBody>
      <dsp:txXfrm>
        <a:off x="5425422" y="2056026"/>
        <a:ext cx="321432" cy="322297"/>
      </dsp:txXfrm>
    </dsp:sp>
    <dsp:sp modelId="{B048FA63-C355-42BC-B222-3698BD594C2F}">
      <dsp:nvSpPr>
        <dsp:cNvPr id="0" name=""/>
        <dsp:cNvSpPr/>
      </dsp:nvSpPr>
      <dsp:spPr>
        <a:xfrm>
          <a:off x="6075217" y="0"/>
          <a:ext cx="2165983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Integrate with network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800" b="1" kern="1200" dirty="0"/>
            <a:t>Merge scores into Telegram network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Add each channel’s score as a </a:t>
          </a:r>
          <a:r>
            <a:rPr lang="en-US" sz="1800" b="1" kern="1200" dirty="0"/>
            <a:t>node attribute</a:t>
          </a:r>
          <a:r>
            <a:rPr lang="en-US" sz="1800" kern="1200" dirty="0"/>
            <a:t> in the network (from the Visualization Tool).</a:t>
          </a:r>
          <a:br>
            <a:rPr lang="en-US" sz="1800" kern="1200" dirty="0"/>
          </a:br>
          <a:endParaRPr lang="en-US" sz="1800" kern="1200" dirty="0"/>
        </a:p>
      </dsp:txBody>
      <dsp:txXfrm>
        <a:off x="6138656" y="63439"/>
        <a:ext cx="2039105" cy="4307472"/>
      </dsp:txXfrm>
    </dsp:sp>
    <dsp:sp modelId="{FC95DB6A-A4A2-4EB3-B85B-36153982A442}">
      <dsp:nvSpPr>
        <dsp:cNvPr id="0" name=""/>
        <dsp:cNvSpPr/>
      </dsp:nvSpPr>
      <dsp:spPr>
        <a:xfrm>
          <a:off x="8457799" y="1948593"/>
          <a:ext cx="459188" cy="537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/>
        </a:p>
      </dsp:txBody>
      <dsp:txXfrm>
        <a:off x="8457799" y="2056026"/>
        <a:ext cx="321432" cy="322297"/>
      </dsp:txXfrm>
    </dsp:sp>
    <dsp:sp modelId="{089C68C9-2F14-4D66-8C45-09C7FA996663}">
      <dsp:nvSpPr>
        <dsp:cNvPr id="0" name=""/>
        <dsp:cNvSpPr/>
      </dsp:nvSpPr>
      <dsp:spPr>
        <a:xfrm>
          <a:off x="9107594" y="0"/>
          <a:ext cx="2165983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Identify unreliable channels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800" b="1" kern="1200" dirty="0"/>
            <a:t>Highlight high-risk areas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disinfo_channels</a:t>
          </a:r>
          <a:r>
            <a:rPr lang="en-US" sz="1800" kern="1200" dirty="0"/>
            <a:t>: channels with high scores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neighbor_disinfo_channels</a:t>
          </a:r>
          <a:r>
            <a:rPr lang="en-US" sz="1800" kern="1200" dirty="0"/>
            <a:t>: channels connected to high-score channels</a:t>
          </a:r>
        </a:p>
      </dsp:txBody>
      <dsp:txXfrm>
        <a:off x="9171033" y="63439"/>
        <a:ext cx="2039105" cy="4307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927AC-D52F-4CBB-8071-A6B6DDB1D68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8CF79-80DB-400B-BEA5-F932A495E8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9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94BD77BD-53A2-65CA-1FB4-7EB9C380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2913e9c632_0_102:notes">
            <a:extLst>
              <a:ext uri="{FF2B5EF4-FFF2-40B4-BE49-F238E27FC236}">
                <a16:creationId xmlns:a16="http://schemas.microsoft.com/office/drawing/2014/main" id="{F3E0C70F-E8B6-3D54-7885-77694BB5C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7" name="Google Shape;387;g32913e9c632_0_102:notes">
            <a:extLst>
              <a:ext uri="{FF2B5EF4-FFF2-40B4-BE49-F238E27FC236}">
                <a16:creationId xmlns:a16="http://schemas.microsoft.com/office/drawing/2014/main" id="{EDB6A841-6D6D-85D0-22E0-50144ADD7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07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Intestazione sezion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D8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831850" y="4674550"/>
            <a:ext cx="105156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 sz="2000">
                <a:solidFill>
                  <a:srgbClr val="898989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 sz="1800">
                <a:solidFill>
                  <a:srgbClr val="898989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tx2">
                    <a:lumMod val="25000"/>
                  </a:schemeClr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326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54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747126" y="1511049"/>
            <a:ext cx="10697748" cy="81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D86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03D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747126" y="2509330"/>
            <a:ext cx="10697748" cy="3667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812" y="6331862"/>
            <a:ext cx="11527536" cy="43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9468" y="43200"/>
            <a:ext cx="1233065" cy="12330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1"/>
          <p:cNvSpPr txBox="1"/>
          <p:nvPr/>
        </p:nvSpPr>
        <p:spPr>
          <a:xfrm>
            <a:off x="9719614" y="408008"/>
            <a:ext cx="2047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3D86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www.ai4trust.eu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838" y="408008"/>
            <a:ext cx="536575" cy="330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/>
          <p:nvPr/>
        </p:nvSpPr>
        <p:spPr>
          <a:xfrm>
            <a:off x="1069388" y="418634"/>
            <a:ext cx="2618628" cy="32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Funded by the European Union</a:t>
            </a: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Horizon Europe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(HORIZON-CL4-2021-HUMAN-01-27 AI to fight disinformation)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6627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7554E-F959-CB7A-A228-235F85634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9111"/>
            <a:ext cx="9144000" cy="2387600"/>
          </a:xfrm>
        </p:spPr>
        <p:txBody>
          <a:bodyPr/>
          <a:lstStyle/>
          <a:p>
            <a:r>
              <a:rPr lang="en-US" dirty="0"/>
              <a:t>Telegram Reliability Evaluator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4B6D45-CA44-7B55-4113-2A16F695C1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29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3FBB3083-E520-3BB4-065A-06F36CF9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2913e9c632_0_102">
            <a:extLst>
              <a:ext uri="{FF2B5EF4-FFF2-40B4-BE49-F238E27FC236}">
                <a16:creationId xmlns:a16="http://schemas.microsoft.com/office/drawing/2014/main" id="{069152B8-36D4-3507-921E-D71461D385A6}"/>
              </a:ext>
            </a:extLst>
          </p:cNvPr>
          <p:cNvSpPr/>
          <p:nvPr/>
        </p:nvSpPr>
        <p:spPr>
          <a:xfrm>
            <a:off x="392700" y="742545"/>
            <a:ext cx="900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/>
              <a:t>Overview</a:t>
            </a:r>
          </a:p>
        </p:txBody>
      </p:sp>
      <p:sp>
        <p:nvSpPr>
          <p:cNvPr id="395" name="Google Shape;395;g32913e9c632_0_102">
            <a:extLst>
              <a:ext uri="{FF2B5EF4-FFF2-40B4-BE49-F238E27FC236}">
                <a16:creationId xmlns:a16="http://schemas.microsoft.com/office/drawing/2014/main" id="{EA41DD6E-43D6-9BA5-456B-A946E6D7CB10}"/>
              </a:ext>
            </a:extLst>
          </p:cNvPr>
          <p:cNvSpPr txBox="1"/>
          <p:nvPr/>
        </p:nvSpPr>
        <p:spPr>
          <a:xfrm>
            <a:off x="950650" y="1520625"/>
            <a:ext cx="1035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913e9c632_0_102">
            <a:extLst>
              <a:ext uri="{FF2B5EF4-FFF2-40B4-BE49-F238E27FC236}">
                <a16:creationId xmlns:a16="http://schemas.microsoft.com/office/drawing/2014/main" id="{96A60B4A-BAD0-5888-AB26-1069ED15F6E0}"/>
              </a:ext>
            </a:extLst>
          </p:cNvPr>
          <p:cNvSpPr/>
          <p:nvPr/>
        </p:nvSpPr>
        <p:spPr>
          <a:xfrm>
            <a:off x="524500" y="1415684"/>
            <a:ext cx="11208900" cy="488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1600" dirty="0"/>
          </a:p>
        </p:txBody>
      </p:sp>
      <p:sp>
        <p:nvSpPr>
          <p:cNvPr id="2" name="Google Shape;396;g32913e9c632_0_102">
            <a:extLst>
              <a:ext uri="{FF2B5EF4-FFF2-40B4-BE49-F238E27FC236}">
                <a16:creationId xmlns:a16="http://schemas.microsoft.com/office/drawing/2014/main" id="{6482A789-48B2-1712-70B4-47F61A075CAB}"/>
              </a:ext>
            </a:extLst>
          </p:cNvPr>
          <p:cNvSpPr/>
          <p:nvPr/>
        </p:nvSpPr>
        <p:spPr>
          <a:xfrm>
            <a:off x="392700" y="1116731"/>
            <a:ext cx="11208900" cy="6306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/>
              <a:t>Purpose</a:t>
            </a:r>
          </a:p>
          <a:p>
            <a:r>
              <a:rPr lang="en-US" sz="1600" dirty="0"/>
              <a:t>To evaluate the </a:t>
            </a:r>
            <a:r>
              <a:rPr lang="en-US" sz="1600" b="1" dirty="0"/>
              <a:t>(social) reliability</a:t>
            </a:r>
            <a:r>
              <a:rPr lang="en-US" sz="1600" dirty="0"/>
              <a:t> of Telegram channels by integrating disinformation detection signals with network relationships.</a:t>
            </a:r>
          </a:p>
          <a:p>
            <a:endParaRPr lang="en-US" sz="1600" dirty="0"/>
          </a:p>
          <a:p>
            <a:r>
              <a:rPr lang="en-US" sz="1600" b="1" dirty="0"/>
              <a:t>How it works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Detect disinformation signals</a:t>
            </a:r>
            <a:br>
              <a:rPr lang="en-US" sz="1600" dirty="0"/>
            </a:br>
            <a:r>
              <a:rPr lang="en-US" sz="1600" dirty="0"/>
              <a:t>→ Uses the </a:t>
            </a:r>
            <a:r>
              <a:rPr lang="en-US" sz="1600" b="1" dirty="0"/>
              <a:t>WP3 disinformation signals detection tool</a:t>
            </a:r>
            <a:r>
              <a:rPr lang="en-US" sz="1600" dirty="0"/>
              <a:t> to identify potentially misleading content in Telegram messages.</a:t>
            </a:r>
            <a:br>
              <a:rPr lang="en-US" sz="1600" dirty="0"/>
            </a:br>
            <a:r>
              <a:rPr lang="en-US" sz="1600" i="1" dirty="0"/>
              <a:t>(This step focuses on textual disinformation indicators for efficiency and interpretability.)</a:t>
            </a:r>
            <a:endParaRPr lang="en-US" sz="16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Aggregate scores by channel</a:t>
            </a:r>
            <a:br>
              <a:rPr lang="en-US" sz="1600" dirty="0"/>
            </a:br>
            <a:r>
              <a:rPr lang="en-US" sz="1600" dirty="0"/>
              <a:t>→ Computes an </a:t>
            </a:r>
            <a:r>
              <a:rPr lang="en-US" sz="1600" b="1" dirty="0"/>
              <a:t>average disinformation score</a:t>
            </a:r>
            <a:r>
              <a:rPr lang="en-US" sz="1600" dirty="0"/>
              <a:t> for each channel based on the proportion of its messages containing disinformation signals.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Integrate with the network structure</a:t>
            </a:r>
            <a:br>
              <a:rPr lang="en-US" sz="1600" dirty="0"/>
            </a:br>
            <a:r>
              <a:rPr lang="en-US" sz="1600" dirty="0"/>
              <a:t>→ Merges these scores into the </a:t>
            </a:r>
            <a:r>
              <a:rPr lang="en-US" sz="1600" b="1" dirty="0"/>
              <a:t>Telegram forwarding network</a:t>
            </a:r>
            <a:r>
              <a:rPr lang="en-US" sz="1600" dirty="0"/>
              <a:t> (from the visualization tool), assigning each channel its reliability score as a </a:t>
            </a:r>
            <a:r>
              <a:rPr lang="en-US" sz="1600" b="1" dirty="0"/>
              <a:t>node attribute</a:t>
            </a:r>
            <a:r>
              <a:rPr lang="en-US" sz="16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Identify High-Risk Areas</a:t>
            </a:r>
            <a:br>
              <a:rPr lang="en-US" sz="1600" dirty="0"/>
            </a:br>
            <a:r>
              <a:rPr lang="en-US" sz="1600" dirty="0"/>
              <a:t>→ Highlights </a:t>
            </a:r>
            <a:r>
              <a:rPr lang="en-US" sz="1600" b="1" dirty="0"/>
              <a:t>channels and clusters</a:t>
            </a:r>
            <a:r>
              <a:rPr lang="en-US" sz="1600" dirty="0"/>
              <a:t> with elevated or neighboring disinformation scores, prioritizing them for deeper qualitative or quantitative analysis.</a:t>
            </a:r>
          </a:p>
          <a:p>
            <a:r>
              <a:rPr lang="en-US" sz="1600" b="1" dirty="0"/>
              <a:t>Outcome</a:t>
            </a:r>
          </a:p>
          <a:p>
            <a:r>
              <a:rPr lang="en-US" sz="1600" dirty="0"/>
              <a:t>Identifies </a:t>
            </a:r>
            <a:r>
              <a:rPr lang="en-US" sz="1600" b="1" dirty="0"/>
              <a:t>likely unreliable channels</a:t>
            </a:r>
            <a:r>
              <a:rPr lang="en-US" sz="1600" dirty="0"/>
              <a:t> and </a:t>
            </a:r>
            <a:r>
              <a:rPr lang="en-US" sz="1600" b="1" dirty="0"/>
              <a:t>channels whose neighbors are likely unreliable</a:t>
            </a:r>
            <a:r>
              <a:rPr lang="en-US" sz="1600" dirty="0"/>
              <a:t>, helping pinpoint where disinformation may circulate in the network.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2405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EEC0B2-F802-BE02-D516-E60CFDAF7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sp>
        <p:nvSpPr>
          <p:cNvPr id="5" name="Google Shape;393;g32913e9c632_0_102">
            <a:extLst>
              <a:ext uri="{FF2B5EF4-FFF2-40B4-BE49-F238E27FC236}">
                <a16:creationId xmlns:a16="http://schemas.microsoft.com/office/drawing/2014/main" id="{C674F1B1-F76D-7CE9-E35D-EC35CD068205}"/>
              </a:ext>
            </a:extLst>
          </p:cNvPr>
          <p:cNvSpPr/>
          <p:nvPr/>
        </p:nvSpPr>
        <p:spPr>
          <a:xfrm>
            <a:off x="524500" y="953984"/>
            <a:ext cx="900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Pipeline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93B4373D-285B-7ED5-F423-733864538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293260"/>
              </p:ext>
            </p:extLst>
          </p:nvPr>
        </p:nvGraphicFramePr>
        <p:xfrm>
          <a:off x="524500" y="1543664"/>
          <a:ext cx="11284042" cy="443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30260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KID_ACTIONS">
      <a:dk1>
        <a:srgbClr val="181818"/>
      </a:dk1>
      <a:lt1>
        <a:srgbClr val="FFFFFF"/>
      </a:lt1>
      <a:dk2>
        <a:srgbClr val="3B527B"/>
      </a:dk2>
      <a:lt2>
        <a:srgbClr val="CBD6EB"/>
      </a:lt2>
      <a:accent1>
        <a:srgbClr val="5B7FBF"/>
      </a:accent1>
      <a:accent2>
        <a:srgbClr val="ADBFDF"/>
      </a:accent2>
      <a:accent3>
        <a:srgbClr val="B66513"/>
      </a:accent3>
      <a:accent4>
        <a:srgbClr val="F0800E"/>
      </a:accent4>
      <a:accent5>
        <a:srgbClr val="F8C087"/>
      </a:accent5>
      <a:accent6>
        <a:srgbClr val="FFEB61"/>
      </a:accent6>
      <a:hlink>
        <a:srgbClr val="F0800E"/>
      </a:hlink>
      <a:folHlink>
        <a:srgbClr val="ADBF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256</Words>
  <Application>Microsoft Office PowerPoint</Application>
  <PresentationFormat>Grand écran</PresentationFormat>
  <Paragraphs>28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Nunito Sans</vt:lpstr>
      <vt:lpstr>Nunito Sans Black</vt:lpstr>
      <vt:lpstr>Custom Design</vt:lpstr>
      <vt:lpstr>Telegram Reliability Evaluator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HOURI</dc:creator>
  <cp:lastModifiedBy>Yasmine HOURI</cp:lastModifiedBy>
  <cp:revision>18</cp:revision>
  <dcterms:created xsi:type="dcterms:W3CDTF">2025-10-16T10:35:41Z</dcterms:created>
  <dcterms:modified xsi:type="dcterms:W3CDTF">2026-05-04T10:00:27Z</dcterms:modified>
</cp:coreProperties>
</file>